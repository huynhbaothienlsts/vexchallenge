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customXml/item1.xml" ContentType="application/xml"/>
  <Override PartName="/customXml/itemProps1.xml" ContentType="application/vnd.openxmlformats-officedocument.customXmlProperties+xml"/>
  <Override PartName="/customXml/item2.xml" ContentType="application/xml"/>
  <Override PartName="/customXml/itemProps2.xml" ContentType="application/vnd.openxmlformats-officedocument.customXmlProperties+xml"/>
  <Override PartName="/customXml/item3.xml" ContentType="application/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3a7ddd8f0ca647a7" Type="http://schemas.openxmlformats.org/package/2006/relationships/metadata/core-properties" Target="/docProps/core.xml"/><Relationship Id="Rbfc39f020e0a4e04" Type="http://schemas.openxmlformats.org/officeDocument/2006/relationships/extended-properties" Target="/docProps/app.xml"/><Relationship Id="R9e4a8ac54476443a" Type="http://schemas.openxmlformats.org/officeDocument/2006/relationships/officeDocument" Target="/ppt/presentation.xml"/><Relationship Id="rId1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c45f640a0fb4254"/>
  </p:sldMasterIdLst>
  <p:notesMasterIdLst>
    <p:notesMasterId xmlns:r="http://schemas.openxmlformats.org/officeDocument/2006/relationships" r:id="R091138bafc584184"/>
  </p:notesMasterIdLst>
  <p:sldIdLst>
    <p:sldId xmlns:r="http://schemas.openxmlformats.org/officeDocument/2006/relationships" id="256" r:id="Rae4138c715fc43ff"/>
    <p:sldId xmlns:r="http://schemas.openxmlformats.org/officeDocument/2006/relationships" id="257" r:id="R9b9c6d225e4f47f8"/>
    <p:sldId xmlns:r="http://schemas.openxmlformats.org/officeDocument/2006/relationships" id="258" r:id="Rfb5831a9994449fd"/>
    <p:sldId xmlns:r="http://schemas.openxmlformats.org/officeDocument/2006/relationships" id="259" r:id="Rb901e47e105b4964"/>
    <p:sldId xmlns:r="http://schemas.openxmlformats.org/officeDocument/2006/relationships" id="260" r:id="Racad7205c8cb4ddf"/>
    <p:sldId xmlns:r="http://schemas.openxmlformats.org/officeDocument/2006/relationships" id="261" r:id="Re70c948613d44702"/>
    <p:sldId xmlns:r="http://schemas.openxmlformats.org/officeDocument/2006/relationships" id="262" r:id="R3e7bc69432d942f2"/>
    <p:sldId xmlns:r="http://schemas.openxmlformats.org/officeDocument/2006/relationships" id="263" r:id="R1dc9057bd58f43a5"/>
    <p:sldId xmlns:r="http://schemas.openxmlformats.org/officeDocument/2006/relationships" id="264" r:id="R1e0ec3a7dae24dc7"/>
    <p:sldId xmlns:r="http://schemas.openxmlformats.org/officeDocument/2006/relationships" id="265" r:id="Rf6bfc18136214aaf"/>
    <p:sldId xmlns:r="http://schemas.openxmlformats.org/officeDocument/2006/relationships" id="266" r:id="R30d65fa6b6984efd"/>
    <p:sldId xmlns:r="http://schemas.openxmlformats.org/officeDocument/2006/relationships" id="267" r:id="Ree8a9f16da364038"/>
    <p:sldId xmlns:r="http://schemas.openxmlformats.org/officeDocument/2006/relationships" id="268" r:id="Rb4f897d4bac14150"/>
    <p:sldId xmlns:r="http://schemas.openxmlformats.org/officeDocument/2006/relationships" id="269" r:id="R5771b4c2f0a2492f"/>
    <p:sldId xmlns:r="http://schemas.openxmlformats.org/officeDocument/2006/relationships" id="270" r:id="Rf727771772554b5b"/>
    <p:sldId xmlns:r="http://schemas.openxmlformats.org/officeDocument/2006/relationships" id="271" r:id="R48b08c39e3474ac5"/>
    <p:sldId xmlns:r="http://schemas.openxmlformats.org/officeDocument/2006/relationships" id="272" r:id="R6ebb90921be74341"/>
    <p:sldId xmlns:r="http://schemas.openxmlformats.org/officeDocument/2006/relationships" id="273" r:id="R18d2e5bfdfe6479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"1.0" encoding="UTF-8" standalone="yes"?>
<Relationships xmlns="http://schemas.openxmlformats.org/package/2006/relationships"><Relationship Id="R1e0ec3a7dae24dc7" Type="http://schemas.openxmlformats.org/officeDocument/2006/relationships/slide" Target="/ppt/slides/slide9.xml"/><Relationship Id="Rd9e2b7f5e9604b09" Type="http://schemas.openxmlformats.org/officeDocument/2006/relationships/theme" Target="/ppt/theme/theme1.xml"/><Relationship Id="R9b9c6d225e4f47f8" Type="http://schemas.openxmlformats.org/officeDocument/2006/relationships/slide" Target="/ppt/slides/slide2.xml"/><Relationship Id="R1dc9057bd58f43a5" Type="http://schemas.openxmlformats.org/officeDocument/2006/relationships/slide" Target="/ppt/slides/slide8.xml"/><Relationship Id="R48b08c39e3474ac5" Type="http://schemas.openxmlformats.org/officeDocument/2006/relationships/slide" Target="/ppt/slides/slide16.xml"/><Relationship Id="R18d2e5bfdfe64792" Type="http://schemas.openxmlformats.org/officeDocument/2006/relationships/slide" Target="/ppt/slides/slide18.xml"/><Relationship Id="rId3" Type="http://schemas.openxmlformats.org/officeDocument/2006/relationships/customXml" Target="../customXml/item3.xml"/><Relationship Id="Rf6bfc18136214aaf" Type="http://schemas.openxmlformats.org/officeDocument/2006/relationships/slide" Target="/ppt/slides/slide10.xml"/><Relationship Id="Rac45f640a0fb4254" Type="http://schemas.openxmlformats.org/officeDocument/2006/relationships/slideMaster" Target="/ppt/slideMasters/slideMaster1.xml"/><Relationship Id="R79d597e52c90447e" Type="http://schemas.openxmlformats.org/officeDocument/2006/relationships/tableStyles" Target="/ppt/tableStyles.xml"/><Relationship Id="Rae4138c715fc43ff" Type="http://schemas.openxmlformats.org/officeDocument/2006/relationships/slide" Target="/ppt/slides/slide1.xml"/><Relationship Id="Ree8a9f16da364038" Type="http://schemas.openxmlformats.org/officeDocument/2006/relationships/slide" Target="/ppt/slides/slide12.xml"/><Relationship Id="rId2" Type="http://schemas.openxmlformats.org/officeDocument/2006/relationships/customXml" Target="../customXml/item2.xml"/><Relationship Id="R091138bafc584184" Type="http://schemas.openxmlformats.org/officeDocument/2006/relationships/notesMaster" Target="/ppt/notesMasters/notesMaster1.xml"/><Relationship Id="Re70c948613d44702" Type="http://schemas.openxmlformats.org/officeDocument/2006/relationships/slide" Target="/ppt/slides/slide6.xml"/><Relationship Id="rId1" Type="http://schemas.openxmlformats.org/officeDocument/2006/relationships/customXml" Target="../customXml/item1.xml"/><Relationship Id="Rb901e47e105b4964" Type="http://schemas.openxmlformats.org/officeDocument/2006/relationships/slide" Target="/ppt/slides/slide4.xml"/><Relationship Id="Racad7205c8cb4ddf" Type="http://schemas.openxmlformats.org/officeDocument/2006/relationships/slide" Target="/ppt/slides/slide5.xml"/><Relationship Id="R5771b4c2f0a2492f" Type="http://schemas.openxmlformats.org/officeDocument/2006/relationships/slide" Target="/ppt/slides/slide14.xml"/><Relationship Id="Rf727771772554b5b" Type="http://schemas.openxmlformats.org/officeDocument/2006/relationships/slide" Target="/ppt/slides/slide15.xml"/><Relationship Id="Rfebc887e6a55497f" Type="http://schemas.openxmlformats.org/officeDocument/2006/relationships/presProps" Target="/ppt/presProps.xml"/><Relationship Id="R3e7bc69432d942f2" Type="http://schemas.openxmlformats.org/officeDocument/2006/relationships/slide" Target="/ppt/slides/slide7.xml"/><Relationship Id="R30d65fa6b6984efd" Type="http://schemas.openxmlformats.org/officeDocument/2006/relationships/slide" Target="/ppt/slides/slide11.xml"/><Relationship Id="R6ebb90921be74341" Type="http://schemas.openxmlformats.org/officeDocument/2006/relationships/slide" Target="/ppt/slides/slide17.xml"/><Relationship Id="Rfb5831a9994449fd" Type="http://schemas.openxmlformats.org/officeDocument/2006/relationships/slide" Target="/ppt/slides/slide3.xml"/><Relationship Id="Rb4f897d4bac14150" Type="http://schemas.openxmlformats.org/officeDocument/2006/relationships/slide" Target="/ppt/slides/slide13.xml"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65ddf1bb9f64bc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a4018243a884018" /><Relationship Type="http://schemas.openxmlformats.org/officeDocument/2006/relationships/notesMaster" Target="/ppt/notesMasters/notesMaster1.xml" Id="R6dc74ca39bcf4b5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ae97f8056e64a81" /><Relationship Type="http://schemas.openxmlformats.org/officeDocument/2006/relationships/notesMaster" Target="/ppt/notesMasters/notesMaster1.xml" Id="Ra663f6f5c6b740b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89a58b6d9cf463b" /><Relationship Type="http://schemas.openxmlformats.org/officeDocument/2006/relationships/notesMaster" Target="/ppt/notesMasters/notesMaster1.xml" Id="R23faf1572ed8475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83262b0ec154e86" /><Relationship Type="http://schemas.openxmlformats.org/officeDocument/2006/relationships/notesMaster" Target="/ppt/notesMasters/notesMaster1.xml" Id="Re15aac340c96480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b731a0246494c91" /><Relationship Type="http://schemas.openxmlformats.org/officeDocument/2006/relationships/notesMaster" Target="/ppt/notesMasters/notesMaster1.xml" Id="R43449237d9b24f3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f0b96aaf5cd42b8" /><Relationship Type="http://schemas.openxmlformats.org/officeDocument/2006/relationships/notesMaster" Target="/ppt/notesMasters/notesMaster1.xml" Id="R7bf981d4a3fc476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867a94d67624ae9" /><Relationship Type="http://schemas.openxmlformats.org/officeDocument/2006/relationships/notesMaster" Target="/ppt/notesMasters/notesMaster1.xml" Id="Rddf28596b23b481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0b24150069641d7" /><Relationship Type="http://schemas.openxmlformats.org/officeDocument/2006/relationships/notesMaster" Target="/ppt/notesMasters/notesMaster1.xml" Id="R2de5e33033ab497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531f2514459499e" /><Relationship Type="http://schemas.openxmlformats.org/officeDocument/2006/relationships/notesMaster" Target="/ppt/notesMasters/notesMaster1.xml" Id="Rbf14d7fdb4bf461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d9c88ad5890438d" /><Relationship Type="http://schemas.openxmlformats.org/officeDocument/2006/relationships/notesMaster" Target="/ppt/notesMasters/notesMaster1.xml" Id="Ra3d81eb0c544409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750b77c65004e19" /><Relationship Type="http://schemas.openxmlformats.org/officeDocument/2006/relationships/notesMaster" Target="/ppt/notesMasters/notesMaster1.xml" Id="R955123afc81541e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160aad10dcd4c90" /><Relationship Type="http://schemas.openxmlformats.org/officeDocument/2006/relationships/notesMaster" Target="/ppt/notesMasters/notesMaster1.xml" Id="Rf2c1e3ca2426415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b25d55de7ea40a0" /><Relationship Type="http://schemas.openxmlformats.org/officeDocument/2006/relationships/notesMaster" Target="/ppt/notesMasters/notesMaster1.xml" Id="Rb800a032203d471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64fd426378c4b1a" /><Relationship Type="http://schemas.openxmlformats.org/officeDocument/2006/relationships/notesMaster" Target="/ppt/notesMasters/notesMaster1.xml" Id="R491d5ee0d8ab43d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534d312dcb34438" /><Relationship Type="http://schemas.openxmlformats.org/officeDocument/2006/relationships/notesMaster" Target="/ppt/notesMasters/notesMaster1.xml" Id="R51384942f6834a0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b354ea70feb4e50" /><Relationship Type="http://schemas.openxmlformats.org/officeDocument/2006/relationships/notesMaster" Target="/ppt/notesMasters/notesMaster1.xml" Id="R72b4e90ad0944ab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46ee8d3a7a24db7" /><Relationship Type="http://schemas.openxmlformats.org/officeDocument/2006/relationships/notesMaster" Target="/ppt/notesMasters/notesMaster1.xml" Id="Rc5fa006eecc6475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796e38e3ea94810" /><Relationship Type="http://schemas.openxmlformats.org/officeDocument/2006/relationships/notesMaster" Target="/ppt/notesMasters/notesMaster1.xml" Id="Rec6002ebf6614e2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494bd52ad5437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331f6c7afb648bb" /><Relationship Type="http://schemas.openxmlformats.org/officeDocument/2006/relationships/slideLayout" Target="/ppt/slideLayouts/slideLayout1.xml" Id="R10f8e8d31e54447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0f8e8d31e54447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c0edfeaa6d4a91" /><Relationship Type="http://schemas.openxmlformats.org/officeDocument/2006/relationships/image" Target="/ppt/media/image.png" Id="R614d01e774f345d3" /><Relationship Type="http://schemas.openxmlformats.org/officeDocument/2006/relationships/notesSlide" Target="/ppt/notesSlides/notesSlide1.xml" Id="Rac13674bc5814a9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4d6f0f504b41c2" /><Relationship Type="http://schemas.openxmlformats.org/officeDocument/2006/relationships/notesSlide" Target="/ppt/notesSlides/notesSlide2.xml" Id="Re2e4e0a8eb2848d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205c815efa44e5" /><Relationship Type="http://schemas.openxmlformats.org/officeDocument/2006/relationships/notesSlide" Target="/ppt/notesSlides/notesSlide3.xml" Id="R8dc8139bce6c4a0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cff00a821d4871" /><Relationship Type="http://schemas.openxmlformats.org/officeDocument/2006/relationships/notesSlide" Target="/ppt/notesSlides/notesSlide4.xml" Id="Rec6430508f244f0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cb1c09adf54ffc" /><Relationship Type="http://schemas.openxmlformats.org/officeDocument/2006/relationships/notesSlide" Target="/ppt/notesSlides/notesSlide5.xml" Id="Refab41d266ab48b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778802c9034548" /><Relationship Type="http://schemas.openxmlformats.org/officeDocument/2006/relationships/notesSlide" Target="/ppt/notesSlides/notesSlide6.xml" Id="Rbce07676489c48b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add1eda9784c05" /><Relationship Type="http://schemas.openxmlformats.org/officeDocument/2006/relationships/notesSlide" Target="/ppt/notesSlides/notesSlide7.xml" Id="R3cc4b9e28009485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e1a4d9e3984b2e" /><Relationship Type="http://schemas.openxmlformats.org/officeDocument/2006/relationships/notesSlide" Target="/ppt/notesSlides/notesSlide8.xml" Id="R24edfa5b3386438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794f03722a4ef1" /><Relationship Type="http://schemas.openxmlformats.org/officeDocument/2006/relationships/notesSlide" Target="/ppt/notesSlides/notesSlide9.xml" Id="Rb8456099d72a43b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c987e9d5da4b9b" /><Relationship Type="http://schemas.openxmlformats.org/officeDocument/2006/relationships/notesSlide" Target="/ppt/notesSlides/notesSlide10.xml" Id="R9223896306914a6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011a5a7b494f50" /><Relationship Type="http://schemas.openxmlformats.org/officeDocument/2006/relationships/notesSlide" Target="/ppt/notesSlides/notesSlide11.xml" Id="R620f90c20e9e4d7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3edbde5c0a4440" /><Relationship Type="http://schemas.openxmlformats.org/officeDocument/2006/relationships/notesSlide" Target="/ppt/notesSlides/notesSlide12.xml" Id="R0992f1e2bda5481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c4a18c81234e8d" /><Relationship Type="http://schemas.openxmlformats.org/officeDocument/2006/relationships/notesSlide" Target="/ppt/notesSlides/notesSlide13.xml" Id="R21f431784472455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d0b40ffe2245ab" /><Relationship Type="http://schemas.openxmlformats.org/officeDocument/2006/relationships/notesSlide" Target="/ppt/notesSlides/notesSlide14.xml" Id="R0d03c437a2ee417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92f63f7d65410c" /><Relationship Type="http://schemas.openxmlformats.org/officeDocument/2006/relationships/notesSlide" Target="/ppt/notesSlides/notesSlide15.xml" Id="R9b5d9423c1984e7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2076f158164b44" /><Relationship Type="http://schemas.openxmlformats.org/officeDocument/2006/relationships/notesSlide" Target="/ppt/notesSlides/notesSlide16.xml" Id="Rfe8bddeebb39451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92004e4aa94529" /><Relationship Type="http://schemas.openxmlformats.org/officeDocument/2006/relationships/notesSlide" Target="/ppt/notesSlides/notesSlide17.xml" Id="R9b9f384e6123435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cc28999ad640ee" /><Relationship Type="http://schemas.openxmlformats.org/officeDocument/2006/relationships/notesSlide" Target="/ppt/notesSlides/notesSlide18.xml" Id="R55e9fd391b3e41f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4d01e774f345d3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dark-overlay">
            <a:extLst xmlns:a="http://schemas.openxmlformats.org/drawingml/2006/main">
              <a:ext uri="{FF2B5EF4-FFF2-40B4-BE49-F238E27FC236}">
                <a16:creationId xmlns:a16="http://schemas.microsoft.com/office/drawing/2014/main" id="{2A36A68B-8AFF-466B-A375-277852159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191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5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E21867AE-F0A7-43DC-A1C9-D244AF234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720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6C34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6C344"/>
                </a:solidFill>
                <a:latin typeface="Arial"/>
                <a:ea typeface="Arial"/>
                <a:cs typeface="Arial"/>
              </a:rPr>
              <a:t>THE SCIENCE EXCHANGE PROGRAM AT LSTS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2BA4ED80-41D2-44EE-800E-9BA363A31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09700"/>
            <a:ext cx="5334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VEX Rapid</a:t>
            </a:r>
          </a:p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Innovation Challenge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81E8DC30-16FF-4D0E-91A7-D524144C9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81375"/>
            <a:ext cx="514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Emergency Supply Delivery Robot</a:t>
            </a:r>
          </a:p>
        </p:txBody>
      </p:sp>
      <p:sp>
        <p:nvSpPr>
          <p:cNvPr id="6" name="box">
            <a:extLst xmlns:a="http://schemas.openxmlformats.org/drawingml/2006/main">
              <a:ext uri="{FF2B5EF4-FFF2-40B4-BE49-F238E27FC236}">
                <a16:creationId xmlns:a16="http://schemas.microsoft.com/office/drawing/2014/main" id="{BE0781ED-05A0-42B3-BF9F-8BA2C2384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38625"/>
            <a:ext cx="1143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48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box">
            <a:extLst xmlns:a="http://schemas.openxmlformats.org/drawingml/2006/main">
              <a:ext uri="{FF2B5EF4-FFF2-40B4-BE49-F238E27FC236}">
                <a16:creationId xmlns:a16="http://schemas.microsoft.com/office/drawing/2014/main" id="{5FAF4CE6-8A47-4698-9549-C5B2839CB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238625"/>
            <a:ext cx="1143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78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C3C189D7-B9F9-41F3-8858-68EFD87A0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72000"/>
            <a:ext cx="495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7DCE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D7DCE3"/>
                </a:solidFill>
                <a:latin typeface="Arial"/>
                <a:ea typeface="Arial"/>
                <a:cs typeface="Arial"/>
              </a:rPr>
              <a:t>12 students · 4 schools · 3 international teams · 180 minutes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6313B8AB-5AF7-4259-A27A-9A189DEA2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05500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Design. Test. Improve. Defend with evidence.</a:t>
            </a:r>
          </a:p>
        </p:txBody>
      </p:sp>
    </p:spTree>
    <p:extLst>
      <p:ext uri="{BB962C8B-B14F-4D97-AF65-F5344CB8AC3E}">
        <p14:creationId xmlns:p14="http://schemas.microsoft.com/office/powerpoint/2010/main" val="91532732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633EBC76-2D9B-429E-934D-3114AED64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478F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478F6"/>
                </a:solidFill>
                <a:latin typeface="Arial"/>
                <a:ea typeface="Arial"/>
                <a:cs typeface="Arial"/>
              </a:rPr>
              <a:t>VEX RAPID INNOVATION CHALLENGE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A823DDA-6741-400E-AA48-405F2A69A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31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1318"/>
                </a:solidFill>
                <a:latin typeface="Arial"/>
                <a:ea typeface="Arial"/>
                <a:cs typeface="Arial"/>
              </a:rPr>
              <a:t>Robots can go where people cannot</a:t>
            </a:r>
          </a:p>
        </p:txBody>
      </p:sp>
      <p:sp>
        <p:nvSpPr>
          <p:cNvPr id="3" name="source">
            <a:extLst xmlns:a="http://schemas.openxmlformats.org/drawingml/2006/main">
              <a:ext uri="{FF2B5EF4-FFF2-40B4-BE49-F238E27FC236}">
                <a16:creationId xmlns:a16="http://schemas.microsoft.com/office/drawing/2014/main" id="{87D06312-D5A2-42CF-A7DA-F75B2BBF7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990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DD52489C-4B5B-4B3F-BF73-1E80BA19D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E6673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6FB6D409-0CDB-4B2C-ABB3-CA57F404B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0"/>
            <a:ext cx="619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131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1318"/>
                </a:solidFill>
                <a:latin typeface="Arial"/>
                <a:ea typeface="Arial"/>
                <a:cs typeface="Arial"/>
              </a:rPr>
              <a:t>A disaster has made several delivery areas unsafe for people.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F03A2109-5367-48F4-BD76-B7CA3FEB8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00300"/>
            <a:ext cx="6191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E6673"/>
                </a:solidFill>
                <a:latin typeface="Arial"/>
                <a:ea typeface="Arial"/>
                <a:cs typeface="Arial"/>
              </a:rPr>
              <a:t>Your team must adapt a VEX V5 Clawbot to collect emergency supplies and deliver them to designated stations.</a:t>
            </a:r>
          </a:p>
        </p:txBody>
      </p:sp>
      <p:sp>
        <p:nvSpPr>
          <p:cNvPr id="7" name="box">
            <a:extLst xmlns:a="http://schemas.openxmlformats.org/drawingml/2006/main">
              <a:ext uri="{FF2B5EF4-FFF2-40B4-BE49-F238E27FC236}">
                <a16:creationId xmlns:a16="http://schemas.microsoft.com/office/drawing/2014/main" id="{A9E5D324-4A44-4FF8-A027-1D6C4419F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695450"/>
            <a:ext cx="428625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1115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label-bg">
            <a:extLst xmlns:a="http://schemas.openxmlformats.org/drawingml/2006/main">
              <a:ext uri="{FF2B5EF4-FFF2-40B4-BE49-F238E27FC236}">
                <a16:creationId xmlns:a16="http://schemas.microsoft.com/office/drawing/2014/main" id="{B68D50FA-340C-4599-8BD3-854323CED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095500"/>
            <a:ext cx="14287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E548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label-text">
            <a:extLst xmlns:a="http://schemas.openxmlformats.org/drawingml/2006/main">
              <a:ext uri="{FF2B5EF4-FFF2-40B4-BE49-F238E27FC236}">
                <a16:creationId xmlns:a16="http://schemas.microsoft.com/office/drawing/2014/main" id="{982B4172-8460-45FB-92BF-EF406C0DD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171700"/>
            <a:ext cx="1200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SUPPLY ZONE</a:t>
            </a:r>
          </a:p>
        </p:txBody>
      </p:sp>
      <p:sp>
        <p:nvSpPr>
          <p:cNvPr id="10" name="label-bg">
            <a:extLst xmlns:a="http://schemas.openxmlformats.org/drawingml/2006/main">
              <a:ext uri="{FF2B5EF4-FFF2-40B4-BE49-F238E27FC236}">
                <a16:creationId xmlns:a16="http://schemas.microsoft.com/office/drawing/2014/main" id="{EEFBF620-7563-444D-A096-5CDA52746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105150"/>
            <a:ext cx="14287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5961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label-text">
            <a:extLst xmlns:a="http://schemas.openxmlformats.org/drawingml/2006/main">
              <a:ext uri="{FF2B5EF4-FFF2-40B4-BE49-F238E27FC236}">
                <a16:creationId xmlns:a16="http://schemas.microsoft.com/office/drawing/2014/main" id="{9F057E11-CFB3-49F7-8405-97F362079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181350"/>
            <a:ext cx="1200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TRAVEL ZONE</a:t>
            </a:r>
          </a:p>
        </p:txBody>
      </p:sp>
      <p:sp>
        <p:nvSpPr>
          <p:cNvPr id="12" name="label-bg">
            <a:extLst xmlns:a="http://schemas.openxmlformats.org/drawingml/2006/main">
              <a:ext uri="{FF2B5EF4-FFF2-40B4-BE49-F238E27FC236}">
                <a16:creationId xmlns:a16="http://schemas.microsoft.com/office/drawing/2014/main" id="{57FF2D2F-3C9D-4E4D-B8F4-D56C97E14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191000"/>
            <a:ext cx="16192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3478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label-text">
            <a:extLst xmlns:a="http://schemas.openxmlformats.org/drawingml/2006/main">
              <a:ext uri="{FF2B5EF4-FFF2-40B4-BE49-F238E27FC236}">
                <a16:creationId xmlns:a16="http://schemas.microsoft.com/office/drawing/2014/main" id="{3E1ED20D-5336-4EDA-AD02-1ACDD00B2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267200"/>
            <a:ext cx="1390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DELIVERY ZONE</a:t>
            </a:r>
          </a:p>
        </p:txBody>
      </p:sp>
      <p:sp>
        <p:nvSpPr>
          <p:cNvPr id="14" name="box">
            <a:extLst xmlns:a="http://schemas.openxmlformats.org/drawingml/2006/main">
              <a:ext uri="{FF2B5EF4-FFF2-40B4-BE49-F238E27FC236}">
                <a16:creationId xmlns:a16="http://schemas.microsoft.com/office/drawing/2014/main" id="{68CF7587-AAE9-494C-BABF-0BCC3124F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24150"/>
            <a:ext cx="5524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6C3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DAD3B105-8BDD-4242-9682-E8A2F88A3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8956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131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01318"/>
                </a:solidFill>
                <a:latin typeface="Arial"/>
                <a:ea typeface="Arial"/>
                <a:cs typeface="Arial"/>
              </a:rPr>
              <a:t>CUP</a:t>
            </a:r>
          </a:p>
        </p:txBody>
      </p:sp>
      <p:sp>
        <p:nvSpPr>
          <p:cNvPr id="16" name="box">
            <a:extLst xmlns:a="http://schemas.openxmlformats.org/drawingml/2006/main">
              <a:ext uri="{FF2B5EF4-FFF2-40B4-BE49-F238E27FC236}">
                <a16:creationId xmlns:a16="http://schemas.microsoft.com/office/drawing/2014/main" id="{790292FE-C4D9-43B7-922C-AA53E6AE2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628900"/>
            <a:ext cx="2286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48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FABD1374-5A6A-4F21-84DA-D7ED484FC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54330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PIN</a:t>
            </a:r>
          </a:p>
        </p:txBody>
      </p:sp>
      <p:sp>
        <p:nvSpPr>
          <p:cNvPr id="18" name="route">
            <a:extLst xmlns:a="http://schemas.openxmlformats.org/drawingml/2006/main">
              <a:ext uri="{FF2B5EF4-FFF2-40B4-BE49-F238E27FC236}">
                <a16:creationId xmlns:a16="http://schemas.microsoft.com/office/drawing/2014/main" id="{6F7BC7DA-3BBD-4174-90C5-D09DBF754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714750"/>
            <a:ext cx="1714500" cy="457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25F1B75C-B9ED-4D73-9A0C-DDF059E7E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86375"/>
            <a:ext cx="628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478F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478F6"/>
                </a:solidFill>
                <a:latin typeface="Arial"/>
                <a:ea typeface="Arial"/>
                <a:cs typeface="Arial"/>
              </a:rPr>
              <a:t>Real-world lens: robotic logistics and emergency response</a:t>
            </a:r>
          </a:p>
        </p:txBody>
      </p:sp>
      <p:sp>
        <p:nvSpPr>
          <p:cNvPr id="20" name="source">
            <a:extLst xmlns:a="http://schemas.openxmlformats.org/drawingml/2006/main">
              <a:ext uri="{FF2B5EF4-FFF2-40B4-BE49-F238E27FC236}">
                <a16:creationId xmlns:a16="http://schemas.microsoft.com/office/drawing/2014/main" id="{65548D45-FA63-4ECD-BA4C-5C4F483B9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990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1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36EA60F7-4A5B-46CB-BEB6-8C1AFD257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E6673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14707716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">
            <a:extLst xmlns:a="http://schemas.openxmlformats.org/drawingml/2006/main">
              <a:ext uri="{FF2B5EF4-FFF2-40B4-BE49-F238E27FC236}">
                <a16:creationId xmlns:a16="http://schemas.microsoft.com/office/drawing/2014/main" id="{B1CBD1EC-3DD6-40E4-A13E-4CD9D08A7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478F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478F6"/>
                </a:solidFill>
                <a:latin typeface="Arial"/>
                <a:ea typeface="Arial"/>
                <a:cs typeface="Arial"/>
              </a:rPr>
              <a:t>OUR DRIVING QUESTION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EE5BB36B-FAB4-4490-983C-9C879F125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106680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318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1318"/>
                </a:solidFill>
                <a:latin typeface="Arial"/>
                <a:ea typeface="Arial"/>
                <a:cs typeface="Arial"/>
              </a:rPr>
              <a:t>How might we adapt a VEX Clawbot to deliver emergency supplies effectively under different real-world priorities?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3DE9A064-4988-4E4C-A0F0-AC14732A2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0"/>
            <a:ext cx="9810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E6673"/>
                </a:solidFill>
                <a:latin typeface="Arial"/>
                <a:ea typeface="Arial"/>
                <a:cs typeface="Arial"/>
              </a:rPr>
              <a:t>There is no single correct answer. Your evidence will make your solution convincing.</a:t>
            </a:r>
          </a:p>
        </p:txBody>
      </p:sp>
      <p:sp>
        <p:nvSpPr>
          <p:cNvPr id="4" name="box">
            <a:extLst xmlns:a="http://schemas.openxmlformats.org/drawingml/2006/main">
              <a:ext uri="{FF2B5EF4-FFF2-40B4-BE49-F238E27FC236}">
                <a16:creationId xmlns:a16="http://schemas.microsoft.com/office/drawing/2014/main" id="{A69A9293-62A1-43C4-89F6-3EE9CBEDB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96000"/>
            <a:ext cx="1123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48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box">
            <a:extLst xmlns:a="http://schemas.openxmlformats.org/drawingml/2006/main">
              <a:ext uri="{FF2B5EF4-FFF2-40B4-BE49-F238E27FC236}">
                <a16:creationId xmlns:a16="http://schemas.microsoft.com/office/drawing/2014/main" id="{26A614D3-E546-4BF0-9719-C1599B308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096000"/>
            <a:ext cx="1123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78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">
            <a:extLst xmlns:a="http://schemas.openxmlformats.org/drawingml/2006/main">
              <a:ext uri="{FF2B5EF4-FFF2-40B4-BE49-F238E27FC236}">
                <a16:creationId xmlns:a16="http://schemas.microsoft.com/office/drawing/2014/main" id="{C300630B-04EB-42C9-B077-EB2FFF034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990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39C8B4E1-B93E-4BA3-AC42-60287EE29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E6673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66666269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10F8DCF1-80C7-42E6-9648-35741B3C9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478F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478F6"/>
                </a:solidFill>
                <a:latin typeface="Arial"/>
                <a:ea typeface="Arial"/>
                <a:cs typeface="Arial"/>
              </a:rPr>
              <a:t>LEARNING GOALS · KUD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4545476-3802-4CA5-BC88-DDEBFAB6D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31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1318"/>
                </a:solidFill>
                <a:latin typeface="Arial"/>
                <a:ea typeface="Arial"/>
                <a:cs typeface="Arial"/>
              </a:rPr>
              <a:t>By the end, you will know, understand and do</a:t>
            </a:r>
          </a:p>
        </p:txBody>
      </p:sp>
      <p:sp>
        <p:nvSpPr>
          <p:cNvPr id="3" name="source">
            <a:extLst xmlns:a="http://schemas.openxmlformats.org/drawingml/2006/main">
              <a:ext uri="{FF2B5EF4-FFF2-40B4-BE49-F238E27FC236}">
                <a16:creationId xmlns:a16="http://schemas.microsoft.com/office/drawing/2014/main" id="{BFD3A03C-E96D-406F-8711-AECF23104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990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12F6806F-18FB-4BB1-B157-85ED5248E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E6673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5" name="box">
            <a:extLst xmlns:a="http://schemas.openxmlformats.org/drawingml/2006/main">
              <a:ext uri="{FF2B5EF4-FFF2-40B4-BE49-F238E27FC236}">
                <a16:creationId xmlns:a16="http://schemas.microsoft.com/office/drawing/2014/main" id="{33A4A5F4-A8DD-43C1-A3FA-736F2D8B3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34290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39E9A4E0-6981-4F54-A566-EF7BAE21C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9550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478F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478F6"/>
                </a:solidFill>
                <a:latin typeface="Arial"/>
                <a:ea typeface="Arial"/>
                <a:cs typeface="Arial"/>
              </a:rPr>
              <a:t>KNOW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BDFB7A95-81FE-4C9E-BD2D-479911EFD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62250"/>
            <a:ext cx="2952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0131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1318"/>
                </a:solidFill>
                <a:latin typeface="Arial"/>
                <a:ea typeface="Arial"/>
                <a:cs typeface="Arial"/>
              </a:rPr>
              <a:t>Clawbot components</a:t>
            </a:r>
          </a:p>
          <a:p xmlns:a="http://schemas.openxmlformats.org/drawingml/2006/main">
            <a:pPr algn="l">
              <a:defRPr sz="1875" b="0">
                <a:solidFill>
                  <a:srgbClr val="10131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1318"/>
                </a:solidFill>
                <a:latin typeface="Arial"/>
                <a:ea typeface="Arial"/>
                <a:cs typeface="Arial"/>
              </a:rPr>
              <a:t>Engineering Design Process</a:t>
            </a:r>
          </a:p>
          <a:p xmlns:a="http://schemas.openxmlformats.org/drawingml/2006/main">
            <a:pPr algn="l">
              <a:defRPr sz="1875" b="0">
                <a:solidFill>
                  <a:srgbClr val="10131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1318"/>
                </a:solidFill>
                <a:latin typeface="Arial"/>
                <a:ea typeface="Arial"/>
                <a:cs typeface="Arial"/>
              </a:rPr>
              <a:t>Baseline, trial and evidence</a:t>
            </a:r>
          </a:p>
        </p:txBody>
      </p:sp>
      <p:sp>
        <p:nvSpPr>
          <p:cNvPr id="8" name="box">
            <a:extLst xmlns:a="http://schemas.openxmlformats.org/drawingml/2006/main">
              <a:ext uri="{FF2B5EF4-FFF2-40B4-BE49-F238E27FC236}">
                <a16:creationId xmlns:a16="http://schemas.microsoft.com/office/drawing/2014/main" id="{41893C7A-B756-44A2-8E46-934E3EC2A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1809750"/>
            <a:ext cx="34290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8D2441EB-A70D-4545-8D5F-03157CF6A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09550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B36B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B36B00"/>
                </a:solidFill>
                <a:latin typeface="Arial"/>
                <a:ea typeface="Arial"/>
                <a:cs typeface="Arial"/>
              </a:rPr>
              <a:t>UNDERSTAND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4B422EA9-860F-4430-AB8E-82AA61510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762250"/>
            <a:ext cx="2952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0131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1318"/>
                </a:solidFill>
                <a:latin typeface="Arial"/>
                <a:ea typeface="Arial"/>
                <a:cs typeface="Arial"/>
              </a:rPr>
              <a:t>Many solutions can work</a:t>
            </a:r>
          </a:p>
          <a:p xmlns:a="http://schemas.openxmlformats.org/drawingml/2006/main">
            <a:pPr algn="l">
              <a:defRPr sz="1875" b="0">
                <a:solidFill>
                  <a:srgbClr val="10131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1318"/>
                </a:solidFill>
                <a:latin typeface="Arial"/>
                <a:ea typeface="Arial"/>
                <a:cs typeface="Arial"/>
              </a:rPr>
              <a:t>Design involves trade-offs</a:t>
            </a:r>
          </a:p>
          <a:p xmlns:a="http://schemas.openxmlformats.org/drawingml/2006/main">
            <a:pPr algn="l">
              <a:defRPr sz="1875" b="0">
                <a:solidFill>
                  <a:srgbClr val="10131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1318"/>
                </a:solidFill>
                <a:latin typeface="Arial"/>
                <a:ea typeface="Arial"/>
                <a:cs typeface="Arial"/>
              </a:rPr>
              <a:t>Data is stronger than opinion</a:t>
            </a:r>
          </a:p>
        </p:txBody>
      </p:sp>
      <p:sp>
        <p:nvSpPr>
          <p:cNvPr id="11" name="box">
            <a:extLst xmlns:a="http://schemas.openxmlformats.org/drawingml/2006/main">
              <a:ext uri="{FF2B5EF4-FFF2-40B4-BE49-F238E27FC236}">
                <a16:creationId xmlns:a16="http://schemas.microsoft.com/office/drawing/2014/main" id="{18FE11FB-CBB5-41D1-BAB8-869A28891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809750"/>
            <a:ext cx="34290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7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2E033ED3-E9E5-4192-95DC-F6ED00E78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09550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E9D6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9D68"/>
                </a:solidFill>
                <a:latin typeface="Arial"/>
                <a:ea typeface="Arial"/>
                <a:cs typeface="Arial"/>
              </a:rPr>
              <a:t>DO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BEB64AE9-5962-4D33-B78D-815F5ED54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762250"/>
            <a:ext cx="2952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0131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1318"/>
                </a:solidFill>
                <a:latin typeface="Arial"/>
                <a:ea typeface="Arial"/>
                <a:cs typeface="Arial"/>
              </a:rPr>
              <a:t>Identify a problem</a:t>
            </a:r>
          </a:p>
          <a:p xmlns:a="http://schemas.openxmlformats.org/drawingml/2006/main">
            <a:pPr algn="l">
              <a:defRPr sz="1875" b="0">
                <a:solidFill>
                  <a:srgbClr val="10131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1318"/>
                </a:solidFill>
                <a:latin typeface="Arial"/>
                <a:ea typeface="Arial"/>
                <a:cs typeface="Arial"/>
              </a:rPr>
              <a:t>Build one focused change</a:t>
            </a:r>
          </a:p>
          <a:p xmlns:a="http://schemas.openxmlformats.org/drawingml/2006/main">
            <a:pPr algn="l">
              <a:defRPr sz="1875" b="0">
                <a:solidFill>
                  <a:srgbClr val="10131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1318"/>
                </a:solidFill>
                <a:latin typeface="Arial"/>
                <a:ea typeface="Arial"/>
                <a:cs typeface="Arial"/>
              </a:rPr>
              <a:t>Test, analyze and present</a:t>
            </a:r>
          </a:p>
        </p:txBody>
      </p:sp>
      <p:sp>
        <p:nvSpPr>
          <p:cNvPr id="14" name="source">
            <a:extLst xmlns:a="http://schemas.openxmlformats.org/drawingml/2006/main">
              <a:ext uri="{FF2B5EF4-FFF2-40B4-BE49-F238E27FC236}">
                <a16:creationId xmlns:a16="http://schemas.microsoft.com/office/drawing/2014/main" id="{C021E393-8919-48BB-8F62-D8859B60A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990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5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5B21F6E3-416F-4E81-ADBE-C4DAE2437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E6673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81180395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F70CA2BB-AD01-450B-99E5-CF0876442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478F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478F6"/>
                </a:solidFill>
                <a:latin typeface="Arial"/>
                <a:ea typeface="Arial"/>
                <a:cs typeface="Arial"/>
              </a:rPr>
              <a:t>YOUR EQUIPMENT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42B8AC0-7E9B-4A07-BD4B-C73C93617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31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1318"/>
                </a:solidFill>
                <a:latin typeface="Arial"/>
                <a:ea typeface="Arial"/>
                <a:cs typeface="Arial"/>
              </a:rPr>
              <a:t>Use the Override field as your research playground</a:t>
            </a:r>
          </a:p>
        </p:txBody>
      </p:sp>
      <p:sp>
        <p:nvSpPr>
          <p:cNvPr id="3" name="source">
            <a:extLst xmlns:a="http://schemas.openxmlformats.org/drawingml/2006/main">
              <a:ext uri="{FF2B5EF4-FFF2-40B4-BE49-F238E27FC236}">
                <a16:creationId xmlns:a16="http://schemas.microsoft.com/office/drawing/2014/main" id="{E88B0546-6DC7-4C11-B0E9-1A87810EA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990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E6673"/>
                </a:solidFill>
                <a:latin typeface="Arial"/>
                <a:ea typeface="Arial"/>
                <a:cs typeface="Arial"/>
              </a:rPr>
              <a:t>Source: VEX Robotics, V5RC Override 2026–2027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E03B1358-F648-4CBE-B9BE-B2FA04968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E6673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5" name="box">
            <a:extLst xmlns:a="http://schemas.openxmlformats.org/drawingml/2006/main">
              <a:ext uri="{FF2B5EF4-FFF2-40B4-BE49-F238E27FC236}">
                <a16:creationId xmlns:a16="http://schemas.microsoft.com/office/drawing/2014/main" id="{4EEC430C-D21A-493A-8510-5514EF337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47875"/>
            <a:ext cx="25717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box">
            <a:extLst xmlns:a="http://schemas.openxmlformats.org/drawingml/2006/main">
              <a:ext uri="{FF2B5EF4-FFF2-40B4-BE49-F238E27FC236}">
                <a16:creationId xmlns:a16="http://schemas.microsoft.com/office/drawing/2014/main" id="{E1084B97-AEE6-4E8F-8787-6B0FE417A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47875"/>
            <a:ext cx="2571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5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26A2F2B6-5951-46F3-96A0-0B5545B36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76500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31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318"/>
                </a:solidFill>
                <a:latin typeface="Arial"/>
                <a:ea typeface="Arial"/>
                <a:cs typeface="Arial"/>
              </a:rPr>
              <a:t>V5 CLAWBOT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AFF982B8-4A6E-47A7-BF5A-BE25788EF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43250"/>
            <a:ext cx="2190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E6673"/>
                </a:solidFill>
                <a:latin typeface="Arial"/>
                <a:ea typeface="Arial"/>
                <a:cs typeface="Arial"/>
              </a:rPr>
              <a:t>Base platform — already built and tested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A0865D4B-3944-415B-AD00-D68641AD8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76750"/>
            <a:ext cx="523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51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51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box">
            <a:extLst xmlns:a="http://schemas.openxmlformats.org/drawingml/2006/main">
              <a:ext uri="{FF2B5EF4-FFF2-40B4-BE49-F238E27FC236}">
                <a16:creationId xmlns:a16="http://schemas.microsoft.com/office/drawing/2014/main" id="{0F25D312-0026-430A-AEBC-ED778263D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047875"/>
            <a:ext cx="25717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box">
            <a:extLst xmlns:a="http://schemas.openxmlformats.org/drawingml/2006/main">
              <a:ext uri="{FF2B5EF4-FFF2-40B4-BE49-F238E27FC236}">
                <a16:creationId xmlns:a16="http://schemas.microsoft.com/office/drawing/2014/main" id="{0E8559F3-6BA9-44B5-BD75-293B67C54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047875"/>
            <a:ext cx="2571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3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894CCC46-CEF4-40BE-AA36-DF28301A2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476500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31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318"/>
                </a:solidFill>
                <a:latin typeface="Arial"/>
                <a:ea typeface="Arial"/>
                <a:cs typeface="Arial"/>
              </a:rPr>
              <a:t>CUPS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D7A13174-8BDA-45DB-957E-C43D01AD6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143250"/>
            <a:ext cx="2190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E6673"/>
                </a:solidFill>
                <a:latin typeface="Arial"/>
                <a:ea typeface="Arial"/>
                <a:cs typeface="Arial"/>
              </a:rPr>
              <a:t>Food and medicine containers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B91609DE-E546-4DB1-BD06-03C138A1C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476750"/>
            <a:ext cx="523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6C34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6C34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box">
            <a:extLst xmlns:a="http://schemas.openxmlformats.org/drawingml/2006/main">
              <a:ext uri="{FF2B5EF4-FFF2-40B4-BE49-F238E27FC236}">
                <a16:creationId xmlns:a16="http://schemas.microsoft.com/office/drawing/2014/main" id="{6DA99700-D443-409A-81DA-F04763D58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047875"/>
            <a:ext cx="25717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box">
            <a:extLst xmlns:a="http://schemas.openxmlformats.org/drawingml/2006/main">
              <a:ext uri="{FF2B5EF4-FFF2-40B4-BE49-F238E27FC236}">
                <a16:creationId xmlns:a16="http://schemas.microsoft.com/office/drawing/2014/main" id="{B7CE14D9-62F0-4DA5-93B8-1505490CA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047875"/>
            <a:ext cx="2571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48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877B6136-DEE9-441B-B67F-3FE047516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476500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31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318"/>
                </a:solidFill>
                <a:latin typeface="Arial"/>
                <a:ea typeface="Arial"/>
                <a:cs typeface="Arial"/>
              </a:rPr>
              <a:t>PINS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FE91BC76-5EC4-4B50-8F98-30637AD04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143250"/>
            <a:ext cx="2190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E6673"/>
                </a:solidFill>
                <a:latin typeface="Arial"/>
                <a:ea typeface="Arial"/>
                <a:cs typeface="Arial"/>
              </a:rPr>
              <a:t>Medical tools and urgent supplies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211EC56F-D383-4F8F-A734-9E036F50D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476750"/>
            <a:ext cx="523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E5484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E5484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0" name="box">
            <a:extLst xmlns:a="http://schemas.openxmlformats.org/drawingml/2006/main">
              <a:ext uri="{FF2B5EF4-FFF2-40B4-BE49-F238E27FC236}">
                <a16:creationId xmlns:a16="http://schemas.microsoft.com/office/drawing/2014/main" id="{8C85C8BB-095D-4CCE-A888-499C7DC1B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047875"/>
            <a:ext cx="25717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box">
            <a:extLst xmlns:a="http://schemas.openxmlformats.org/drawingml/2006/main">
              <a:ext uri="{FF2B5EF4-FFF2-40B4-BE49-F238E27FC236}">
                <a16:creationId xmlns:a16="http://schemas.microsoft.com/office/drawing/2014/main" id="{0F92D600-C3B4-45AF-B5EA-03447E80E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047875"/>
            <a:ext cx="2571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78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1A4F5290-BB0D-4DC3-BA8C-EC16EF23F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476500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31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318"/>
                </a:solidFill>
                <a:latin typeface="Arial"/>
                <a:ea typeface="Arial"/>
                <a:cs typeface="Arial"/>
              </a:rPr>
              <a:t>GOALS + ZONES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5DDDB848-0B4D-47CD-965A-F191B9818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143250"/>
            <a:ext cx="2190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E6673"/>
                </a:solidFill>
                <a:latin typeface="Arial"/>
                <a:ea typeface="Arial"/>
                <a:cs typeface="Arial"/>
              </a:rPr>
              <a:t>Collection and delivery stations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003E1607-2E9B-4C14-8A21-425402FF6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476750"/>
            <a:ext cx="523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478F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478F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47DA39D4-31E5-4412-AE27-31B918005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72125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609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31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318"/>
                </a:solidFill>
                <a:latin typeface="Arial"/>
                <a:ea typeface="Arial"/>
                <a:cs typeface="Arial"/>
              </a:rPr>
              <a:t>We borrow selected game elements—not the full competition rules—to create an open engineering challenge.</a:t>
            </a:r>
          </a:p>
        </p:txBody>
      </p:sp>
    </p:spTree>
    <p:extLst>
      <p:ext uri="{BB962C8B-B14F-4D97-AF65-F5344CB8AC3E}">
        <p14:creationId xmlns:p14="http://schemas.microsoft.com/office/powerpoint/2010/main" val="207260296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66C42D07-54E2-4921-88EA-6DD2D735F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478F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478F6"/>
                </a:solidFill>
                <a:latin typeface="Arial"/>
                <a:ea typeface="Arial"/>
                <a:cs typeface="Arial"/>
              </a:rPr>
              <a:t>VEX RAPID INNOVATION CHALLENGE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E613F70-16E7-40C2-8525-703CBA46E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31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1318"/>
                </a:solidFill>
                <a:latin typeface="Arial"/>
                <a:ea typeface="Arial"/>
                <a:cs typeface="Arial"/>
              </a:rPr>
              <a:t>Three international teams, four shared responsibilities</a:t>
            </a:r>
          </a:p>
        </p:txBody>
      </p:sp>
      <p:sp>
        <p:nvSpPr>
          <p:cNvPr id="3" name="source">
            <a:extLst xmlns:a="http://schemas.openxmlformats.org/drawingml/2006/main">
              <a:ext uri="{FF2B5EF4-FFF2-40B4-BE49-F238E27FC236}">
                <a16:creationId xmlns:a16="http://schemas.microsoft.com/office/drawing/2014/main" id="{4B7E700B-16AB-44A1-82D5-8B58F4D30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990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ACBB0AE6-E2B1-4267-AD79-B73105339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E6673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5" name="box">
            <a:extLst xmlns:a="http://schemas.openxmlformats.org/drawingml/2006/main">
              <a:ext uri="{FF2B5EF4-FFF2-40B4-BE49-F238E27FC236}">
                <a16:creationId xmlns:a16="http://schemas.microsoft.com/office/drawing/2014/main" id="{3215BBD4-3AD5-4238-ADD2-5B20F5826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542925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4C0894DB-D334-4539-9576-A76377753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523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E5484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E5484D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822A49AE-C590-4863-B72D-183AC1F2B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2066925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31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318"/>
                </a:solidFill>
                <a:latin typeface="Arial"/>
                <a:ea typeface="Arial"/>
                <a:cs typeface="Arial"/>
              </a:rPr>
              <a:t>DESIGN LEAD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D5A67B5D-B882-4DB5-B403-E0F59C813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25336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E6673"/>
                </a:solidFill>
                <a:latin typeface="Arial"/>
                <a:ea typeface="Arial"/>
                <a:cs typeface="Arial"/>
              </a:rPr>
              <a:t>Keeps the team focused on the problem</a:t>
            </a:r>
          </a:p>
        </p:txBody>
      </p:sp>
      <p:sp>
        <p:nvSpPr>
          <p:cNvPr id="9" name="box">
            <a:extLst xmlns:a="http://schemas.openxmlformats.org/drawingml/2006/main">
              <a:ext uri="{FF2B5EF4-FFF2-40B4-BE49-F238E27FC236}">
                <a16:creationId xmlns:a16="http://schemas.microsoft.com/office/drawing/2014/main" id="{4589FCC7-93F2-41AE-9971-DF7F642B5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809750"/>
            <a:ext cx="542925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3717D22D-89F5-4A65-85F8-C6E05BB24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57400"/>
            <a:ext cx="523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3478F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3478F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E9B91AB8-428F-4D45-B29B-8A0F8CED5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2066925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31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318"/>
                </a:solidFill>
                <a:latin typeface="Arial"/>
                <a:ea typeface="Arial"/>
                <a:cs typeface="Arial"/>
              </a:rPr>
              <a:t>MECHANICAL ENGINEER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5B6C3E0B-9A2C-4294-9149-84DD24105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25336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E6673"/>
                </a:solidFill>
                <a:latin typeface="Arial"/>
                <a:ea typeface="Arial"/>
                <a:cs typeface="Arial"/>
              </a:rPr>
              <a:t>Builds and checks the attachment</a:t>
            </a:r>
          </a:p>
        </p:txBody>
      </p:sp>
      <p:sp>
        <p:nvSpPr>
          <p:cNvPr id="13" name="box">
            <a:extLst xmlns:a="http://schemas.openxmlformats.org/drawingml/2006/main">
              <a:ext uri="{FF2B5EF4-FFF2-40B4-BE49-F238E27FC236}">
                <a16:creationId xmlns:a16="http://schemas.microsoft.com/office/drawing/2014/main" id="{5A8568CC-B673-462F-A12B-BE5A29B06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62375"/>
            <a:ext cx="542925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8DCCCE2F-E9D0-4D5D-B1F1-1D9244D5C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0025"/>
            <a:ext cx="523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E5484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E5484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F8A43F41-862A-49DA-AF24-E6BF52601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401955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31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318"/>
                </a:solidFill>
                <a:latin typeface="Arial"/>
                <a:ea typeface="Arial"/>
                <a:cs typeface="Arial"/>
              </a:rPr>
              <a:t>DRIVER + TEST ENGINEER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34022B84-0DAC-4743-8F05-D3EB42E38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4486275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E6673"/>
                </a:solidFill>
                <a:latin typeface="Arial"/>
                <a:ea typeface="Arial"/>
                <a:cs typeface="Arial"/>
              </a:rPr>
              <a:t>Runs every trial consistently</a:t>
            </a:r>
          </a:p>
        </p:txBody>
      </p:sp>
      <p:sp>
        <p:nvSpPr>
          <p:cNvPr id="17" name="box">
            <a:extLst xmlns:a="http://schemas.openxmlformats.org/drawingml/2006/main">
              <a:ext uri="{FF2B5EF4-FFF2-40B4-BE49-F238E27FC236}">
                <a16:creationId xmlns:a16="http://schemas.microsoft.com/office/drawing/2014/main" id="{1A275640-9305-425E-B5E0-5D97E00B9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762375"/>
            <a:ext cx="542925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B0752787-8B3E-4366-856F-4F03F1BC5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010025"/>
            <a:ext cx="523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3478F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3478F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EF915306-C0F3-4293-94BB-9D1535B8E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401955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31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318"/>
                </a:solidFill>
                <a:latin typeface="Arial"/>
                <a:ea typeface="Arial"/>
                <a:cs typeface="Arial"/>
              </a:rPr>
              <a:t>DATA + COMMUNICATION LEAD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F17A5D8A-A2B5-4585-AC07-6385CB2FC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4486275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E6673"/>
                </a:solidFill>
                <a:latin typeface="Arial"/>
                <a:ea typeface="Arial"/>
                <a:cs typeface="Arial"/>
              </a:rPr>
              <a:t>Records evidence and leads the pitch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1EE2D52F-8C47-4A0C-B668-19CCED669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57875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31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318"/>
                </a:solidFill>
                <a:latin typeface="Arial"/>
                <a:ea typeface="Arial"/>
                <a:cs typeface="Arial"/>
              </a:rPr>
              <a:t>Everyone contributes ideas, understands the design and speaks during the final presentation.</a:t>
            </a:r>
          </a:p>
        </p:txBody>
      </p:sp>
      <p:sp>
        <p:nvSpPr>
          <p:cNvPr id="22" name="source">
            <a:extLst xmlns:a="http://schemas.openxmlformats.org/drawingml/2006/main">
              <a:ext uri="{FF2B5EF4-FFF2-40B4-BE49-F238E27FC236}">
                <a16:creationId xmlns:a16="http://schemas.microsoft.com/office/drawing/2014/main" id="{31D52D65-9ABA-42E4-96C1-5C1C342A1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990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4D927782-2C07-4AC7-BA5C-BD17BD1AB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E6673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79661895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4A840513-9D90-4EEE-A7FE-0116E1395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478F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478F6"/>
                </a:solidFill>
                <a:latin typeface="Arial"/>
                <a:ea typeface="Arial"/>
                <a:cs typeface="Arial"/>
              </a:rPr>
              <a:t>YOUR DESIGN PRIORITY CARD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3A1CB15-7DA9-4AA3-8AB8-252751B33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31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1318"/>
                </a:solidFill>
                <a:latin typeface="Arial"/>
                <a:ea typeface="Arial"/>
                <a:cs typeface="Arial"/>
              </a:rPr>
              <a:t>Same mission—three different design priorities</a:t>
            </a:r>
          </a:p>
        </p:txBody>
      </p:sp>
      <p:sp>
        <p:nvSpPr>
          <p:cNvPr id="3" name="source">
            <a:extLst xmlns:a="http://schemas.openxmlformats.org/drawingml/2006/main">
              <a:ext uri="{FF2B5EF4-FFF2-40B4-BE49-F238E27FC236}">
                <a16:creationId xmlns:a16="http://schemas.microsoft.com/office/drawing/2014/main" id="{7BBF8A2C-CC9A-4936-A023-09957DD1B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990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0382660D-BFEF-40D8-A995-1E59339DD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E6673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5" name="box">
            <a:extLst xmlns:a="http://schemas.openxmlformats.org/drawingml/2006/main">
              <a:ext uri="{FF2B5EF4-FFF2-40B4-BE49-F238E27FC236}">
                <a16:creationId xmlns:a16="http://schemas.microsoft.com/office/drawing/2014/main" id="{BF6E7735-02EF-455E-93B2-BD65258F9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0"/>
            <a:ext cx="35242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box">
            <a:extLst xmlns:a="http://schemas.openxmlformats.org/drawingml/2006/main">
              <a:ext uri="{FF2B5EF4-FFF2-40B4-BE49-F238E27FC236}">
                <a16:creationId xmlns:a16="http://schemas.microsoft.com/office/drawing/2014/main" id="{83D520A8-C694-4C67-B52B-06F80E6DF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0"/>
            <a:ext cx="35242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48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FE9198E1-6D7B-478B-83CA-D73EEAEB8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43125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5484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E5484D"/>
                </a:solidFill>
                <a:latin typeface="Arial"/>
                <a:ea typeface="Arial"/>
                <a:cs typeface="Arial"/>
              </a:rPr>
              <a:t>TEAM SPEED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A11795A6-E96A-4E53-A5DC-51FFE724B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19375"/>
            <a:ext cx="304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31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01318"/>
                </a:solidFill>
                <a:latin typeface="Arial"/>
                <a:ea typeface="Arial"/>
                <a:cs typeface="Arial"/>
              </a:rPr>
              <a:t>RAPID RESPONSE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F6BF8487-49E9-4909-B786-7383A768C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19500"/>
            <a:ext cx="3048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E6673"/>
                </a:solidFill>
                <a:latin typeface="Arial"/>
                <a:ea typeface="Arial"/>
                <a:cs typeface="Arial"/>
              </a:rPr>
              <a:t>Deliver the highest number of supplies in 60 seconds.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A876B33D-228E-4F79-8331-8660FAFBD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05375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31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1318"/>
                </a:solidFill>
                <a:latin typeface="Arial"/>
                <a:ea typeface="Arial"/>
                <a:cs typeface="Arial"/>
              </a:rPr>
              <a:t>Your product must reflect this priority.</a:t>
            </a:r>
          </a:p>
        </p:txBody>
      </p:sp>
      <p:sp>
        <p:nvSpPr>
          <p:cNvPr id="11" name="box">
            <a:extLst xmlns:a="http://schemas.openxmlformats.org/drawingml/2006/main">
              <a:ext uri="{FF2B5EF4-FFF2-40B4-BE49-F238E27FC236}">
                <a16:creationId xmlns:a16="http://schemas.microsoft.com/office/drawing/2014/main" id="{D04E0946-A68C-4873-B165-1402E755F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1714500"/>
            <a:ext cx="35242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box">
            <a:extLst xmlns:a="http://schemas.openxmlformats.org/drawingml/2006/main">
              <a:ext uri="{FF2B5EF4-FFF2-40B4-BE49-F238E27FC236}">
                <a16:creationId xmlns:a16="http://schemas.microsoft.com/office/drawing/2014/main" id="{348F8456-4CE6-4681-8AB9-20A592DCA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1714500"/>
            <a:ext cx="35242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78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B5474297-BA35-4A01-9290-AC127D957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143125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478F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478F6"/>
                </a:solidFill>
                <a:latin typeface="Arial"/>
                <a:ea typeface="Arial"/>
                <a:cs typeface="Arial"/>
              </a:rPr>
              <a:t>TEAM PRECISION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34CB17F8-462B-4752-83A0-B3FBA6702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619375"/>
            <a:ext cx="304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31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01318"/>
                </a:solidFill>
                <a:latin typeface="Arial"/>
                <a:ea typeface="Arial"/>
                <a:cs typeface="Arial"/>
              </a:rPr>
              <a:t>SAFE DELIVERY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19D540F7-2BC7-494C-A272-923809EBA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619500"/>
            <a:ext cx="3048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E6673"/>
                </a:solidFill>
                <a:latin typeface="Arial"/>
                <a:ea typeface="Arial"/>
                <a:cs typeface="Arial"/>
              </a:rPr>
              <a:t>Place supplies accurately with the fewest drops and errors.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9600ACDC-8ABE-4338-960D-A99744206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905375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31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1318"/>
                </a:solidFill>
                <a:latin typeface="Arial"/>
                <a:ea typeface="Arial"/>
                <a:cs typeface="Arial"/>
              </a:rPr>
              <a:t>Your product must reflect this priority.</a:t>
            </a:r>
          </a:p>
        </p:txBody>
      </p:sp>
      <p:sp>
        <p:nvSpPr>
          <p:cNvPr id="17" name="box">
            <a:extLst xmlns:a="http://schemas.openxmlformats.org/drawingml/2006/main">
              <a:ext uri="{FF2B5EF4-FFF2-40B4-BE49-F238E27FC236}">
                <a16:creationId xmlns:a16="http://schemas.microsoft.com/office/drawing/2014/main" id="{75D479AC-AD7C-47B7-A8A2-91071F7C7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714500"/>
            <a:ext cx="35242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box">
            <a:extLst xmlns:a="http://schemas.openxmlformats.org/drawingml/2006/main">
              <a:ext uri="{FF2B5EF4-FFF2-40B4-BE49-F238E27FC236}">
                <a16:creationId xmlns:a16="http://schemas.microsoft.com/office/drawing/2014/main" id="{BC7E5B34-5226-4C52-AF8D-70C071AE8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714500"/>
            <a:ext cx="35242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9D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F2E00DD3-FF76-49A5-93ED-D5A6BCA65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143125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E9D6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E9D68"/>
                </a:solidFill>
                <a:latin typeface="Arial"/>
                <a:ea typeface="Arial"/>
                <a:cs typeface="Arial"/>
              </a:rPr>
              <a:t>TEAM VERSATILITY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93F160DA-14F2-4315-BDE0-10D1F30C2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619375"/>
            <a:ext cx="304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6774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31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01318"/>
                </a:solidFill>
                <a:latin typeface="Arial"/>
                <a:ea typeface="Arial"/>
                <a:cs typeface="Arial"/>
              </a:rPr>
              <a:t>MULTI-PURPOSE RESPONSE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A7DABB50-E3F1-4813-A42C-023838714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619500"/>
            <a:ext cx="3048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E6673"/>
                </a:solidFill>
                <a:latin typeface="Arial"/>
                <a:ea typeface="Arial"/>
                <a:cs typeface="Arial"/>
              </a:rPr>
              <a:t>Handle different objects or delivery locations with one solution.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AFF6872E-703B-4193-AEBC-AD18B6EDD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905375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31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1318"/>
                </a:solidFill>
                <a:latin typeface="Arial"/>
                <a:ea typeface="Arial"/>
                <a:cs typeface="Arial"/>
              </a:rPr>
              <a:t>Your product must reflect this priority.</a:t>
            </a:r>
          </a:p>
        </p:txBody>
      </p:sp>
      <p:sp>
        <p:nvSpPr>
          <p:cNvPr id="23" name="source">
            <a:extLst xmlns:a="http://schemas.openxmlformats.org/drawingml/2006/main">
              <a:ext uri="{FF2B5EF4-FFF2-40B4-BE49-F238E27FC236}">
                <a16:creationId xmlns:a16="http://schemas.microsoft.com/office/drawing/2014/main" id="{9414378A-790E-4A43-98E0-C5255DA48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990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A0F850A3-115A-432A-BA09-5ABCF7BAA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E6673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89168966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0FFCC20C-5CE6-4EFD-B680-E1ED1D18A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478F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478F6"/>
                </a:solidFill>
                <a:latin typeface="Arial"/>
                <a:ea typeface="Arial"/>
                <a:cs typeface="Arial"/>
              </a:rPr>
              <a:t>DESIGN CONSTRAINTS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A73FE9A-60B7-47CF-8C0E-4154B931F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31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1318"/>
                </a:solidFill>
                <a:latin typeface="Arial"/>
                <a:ea typeface="Arial"/>
                <a:cs typeface="Arial"/>
              </a:rPr>
              <a:t>Keep the challenge focused and safe</a:t>
            </a:r>
          </a:p>
        </p:txBody>
      </p:sp>
      <p:sp>
        <p:nvSpPr>
          <p:cNvPr id="3" name="source">
            <a:extLst xmlns:a="http://schemas.openxmlformats.org/drawingml/2006/main">
              <a:ext uri="{FF2B5EF4-FFF2-40B4-BE49-F238E27FC236}">
                <a16:creationId xmlns:a16="http://schemas.microsoft.com/office/drawing/2014/main" id="{CB66ADCA-8240-4A60-A9E3-67733D581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990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189348E5-8C2B-4BDD-B057-F94483A6B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E6673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5" name="bullet-0">
            <a:extLst xmlns:a="http://schemas.openxmlformats.org/drawingml/2006/main">
              <a:ext uri="{FF2B5EF4-FFF2-40B4-BE49-F238E27FC236}">
                <a16:creationId xmlns:a16="http://schemas.microsoft.com/office/drawing/2014/main" id="{8CD00FAB-5C75-4930-A8FA-6FCEF0DD5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78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bullet-text-0">
            <a:extLst xmlns:a="http://schemas.openxmlformats.org/drawingml/2006/main">
              <a:ext uri="{FF2B5EF4-FFF2-40B4-BE49-F238E27FC236}">
                <a16:creationId xmlns:a16="http://schemas.microsoft.com/office/drawing/2014/main" id="{7CBEB34F-7145-43E6-B8E3-6444B69F9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14500"/>
            <a:ext cx="102298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0131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1318"/>
                </a:solidFill>
                <a:latin typeface="Arial"/>
                <a:ea typeface="Arial"/>
                <a:cs typeface="Arial"/>
              </a:rPr>
              <a:t>Do not rebuild the drivetrain or main frame.</a:t>
            </a:r>
          </a:p>
        </p:txBody>
      </p:sp>
      <p:sp>
        <p:nvSpPr>
          <p:cNvPr id="7" name="bullet-1">
            <a:extLst xmlns:a="http://schemas.openxmlformats.org/drawingml/2006/main">
              <a:ext uri="{FF2B5EF4-FFF2-40B4-BE49-F238E27FC236}">
                <a16:creationId xmlns:a16="http://schemas.microsoft.com/office/drawing/2014/main" id="{152ACF4E-3D98-4CFB-A8B0-A5107D1F8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288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48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bullet-text-1">
            <a:extLst xmlns:a="http://schemas.openxmlformats.org/drawingml/2006/main">
              <a:ext uri="{FF2B5EF4-FFF2-40B4-BE49-F238E27FC236}">
                <a16:creationId xmlns:a16="http://schemas.microsoft.com/office/drawing/2014/main" id="{A556EA89-51E1-4F5E-B89C-B1DE12568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52675"/>
            <a:ext cx="102298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0131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1318"/>
                </a:solidFill>
                <a:latin typeface="Arial"/>
                <a:ea typeface="Arial"/>
                <a:cs typeface="Arial"/>
              </a:rPr>
              <a:t>Make only one major improvement.</a:t>
            </a:r>
          </a:p>
        </p:txBody>
      </p:sp>
      <p:sp>
        <p:nvSpPr>
          <p:cNvPr id="9" name="bullet-2">
            <a:extLst xmlns:a="http://schemas.openxmlformats.org/drawingml/2006/main">
              <a:ext uri="{FF2B5EF4-FFF2-40B4-BE49-F238E27FC236}">
                <a16:creationId xmlns:a16="http://schemas.microsoft.com/office/drawing/2014/main" id="{EC6699C0-C05B-4B0F-8497-3AE2F21AF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670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78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bullet-text-2">
            <a:extLst xmlns:a="http://schemas.openxmlformats.org/drawingml/2006/main">
              <a:ext uri="{FF2B5EF4-FFF2-40B4-BE49-F238E27FC236}">
                <a16:creationId xmlns:a16="http://schemas.microsoft.com/office/drawing/2014/main" id="{0647D81A-36B3-47A3-922C-821FAF7C0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90850"/>
            <a:ext cx="102298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0131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1318"/>
                </a:solidFill>
                <a:latin typeface="Arial"/>
                <a:ea typeface="Arial"/>
                <a:cs typeface="Arial"/>
              </a:rPr>
              <a:t>Use only the supplied parts and materials.</a:t>
            </a:r>
          </a:p>
        </p:txBody>
      </p:sp>
      <p:sp>
        <p:nvSpPr>
          <p:cNvPr id="11" name="bullet-3">
            <a:extLst xmlns:a="http://schemas.openxmlformats.org/drawingml/2006/main">
              <a:ext uri="{FF2B5EF4-FFF2-40B4-BE49-F238E27FC236}">
                <a16:creationId xmlns:a16="http://schemas.microsoft.com/office/drawing/2014/main" id="{3EBD461E-06D8-4ADA-BC0D-DB65BCD17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052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48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bullet-text-3">
            <a:extLst xmlns:a="http://schemas.openxmlformats.org/drawingml/2006/main">
              <a:ext uri="{FF2B5EF4-FFF2-40B4-BE49-F238E27FC236}">
                <a16:creationId xmlns:a16="http://schemas.microsoft.com/office/drawing/2014/main" id="{6BE8AA5A-CE3F-4DBE-853D-7753EE436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29025"/>
            <a:ext cx="102298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0131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1318"/>
                </a:solidFill>
                <a:latin typeface="Arial"/>
                <a:ea typeface="Arial"/>
                <a:cs typeface="Arial"/>
              </a:rPr>
              <a:t>Keep attachments secure, removable and safe.</a:t>
            </a:r>
          </a:p>
        </p:txBody>
      </p:sp>
      <p:sp>
        <p:nvSpPr>
          <p:cNvPr id="13" name="bullet-4">
            <a:extLst xmlns:a="http://schemas.openxmlformats.org/drawingml/2006/main">
              <a:ext uri="{FF2B5EF4-FFF2-40B4-BE49-F238E27FC236}">
                <a16:creationId xmlns:a16="http://schemas.microsoft.com/office/drawing/2014/main" id="{2B004876-6B93-4DB7-9E44-7E77C9687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434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78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bullet-text-4">
            <a:extLst xmlns:a="http://schemas.openxmlformats.org/drawingml/2006/main">
              <a:ext uri="{FF2B5EF4-FFF2-40B4-BE49-F238E27FC236}">
                <a16:creationId xmlns:a16="http://schemas.microsoft.com/office/drawing/2014/main" id="{19AC7565-44A9-4D18-9235-A3DCDA055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67200"/>
            <a:ext cx="102298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0131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1318"/>
                </a:solidFill>
                <a:latin typeface="Arial"/>
                <a:ea typeface="Arial"/>
                <a:cs typeface="Arial"/>
              </a:rPr>
              <a:t>Start every trial from the same position.</a:t>
            </a:r>
          </a:p>
        </p:txBody>
      </p:sp>
      <p:sp>
        <p:nvSpPr>
          <p:cNvPr id="15" name="bullet-5">
            <a:extLst xmlns:a="http://schemas.openxmlformats.org/drawingml/2006/main">
              <a:ext uri="{FF2B5EF4-FFF2-40B4-BE49-F238E27FC236}">
                <a16:creationId xmlns:a16="http://schemas.microsoft.com/office/drawing/2014/main" id="{3BB148A6-90FC-4312-8164-A1819052B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815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48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bullet-text-5">
            <a:extLst xmlns:a="http://schemas.openxmlformats.org/drawingml/2006/main">
              <a:ext uri="{FF2B5EF4-FFF2-40B4-BE49-F238E27FC236}">
                <a16:creationId xmlns:a16="http://schemas.microsoft.com/office/drawing/2014/main" id="{C48A19F1-8364-451D-9D21-E072BA046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05375"/>
            <a:ext cx="102298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0131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1318"/>
                </a:solidFill>
                <a:latin typeface="Arial"/>
                <a:ea typeface="Arial"/>
                <a:cs typeface="Arial"/>
              </a:rPr>
              <a:t>Complete each trial within 60 seconds.</a:t>
            </a:r>
          </a:p>
        </p:txBody>
      </p:sp>
      <p:sp>
        <p:nvSpPr>
          <p:cNvPr id="17" name="box">
            <a:extLst xmlns:a="http://schemas.openxmlformats.org/drawingml/2006/main">
              <a:ext uri="{FF2B5EF4-FFF2-40B4-BE49-F238E27FC236}">
                <a16:creationId xmlns:a16="http://schemas.microsoft.com/office/drawing/2014/main" id="{114FC98B-960C-4D4D-86BC-06F87AAE7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667375"/>
            <a:ext cx="41910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115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868007E2-2B17-442F-A31D-FF60641A2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781675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STOP → CHECK → TEST</a:t>
            </a:r>
          </a:p>
        </p:txBody>
      </p:sp>
      <p:sp>
        <p:nvSpPr>
          <p:cNvPr id="19" name="source">
            <a:extLst xmlns:a="http://schemas.openxmlformats.org/drawingml/2006/main">
              <a:ext uri="{FF2B5EF4-FFF2-40B4-BE49-F238E27FC236}">
                <a16:creationId xmlns:a16="http://schemas.microsoft.com/office/drawing/2014/main" id="{CD2880C7-15F7-43BD-9219-F6C20AC8D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990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0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7B6903A8-0FBD-4A8D-8D1A-C08367728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E6673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92105071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DB9176A0-A86A-4B6E-91B0-D88B36687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478F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478F6"/>
                </a:solidFill>
                <a:latin typeface="Arial"/>
                <a:ea typeface="Arial"/>
                <a:cs typeface="Arial"/>
              </a:rPr>
              <a:t>TODAY'S ROADMAP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F8FDD2D-6A43-43E6-9728-0987A3893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31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1318"/>
                </a:solidFill>
                <a:latin typeface="Arial"/>
                <a:ea typeface="Arial"/>
                <a:cs typeface="Arial"/>
              </a:rPr>
              <a:t>Your 180-minute sprint has six stages</a:t>
            </a:r>
          </a:p>
        </p:txBody>
      </p:sp>
      <p:sp>
        <p:nvSpPr>
          <p:cNvPr id="3" name="source">
            <a:extLst xmlns:a="http://schemas.openxmlformats.org/drawingml/2006/main">
              <a:ext uri="{FF2B5EF4-FFF2-40B4-BE49-F238E27FC236}">
                <a16:creationId xmlns:a16="http://schemas.microsoft.com/office/drawing/2014/main" id="{37AEA7B4-8F1A-4D2E-AEF1-CADE617D2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990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7A2B121F-A741-45FF-BB7F-7F412906F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E6673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5" name="box">
            <a:extLst xmlns:a="http://schemas.openxmlformats.org/drawingml/2006/main">
              <a:ext uri="{FF2B5EF4-FFF2-40B4-BE49-F238E27FC236}">
                <a16:creationId xmlns:a16="http://schemas.microsoft.com/office/drawing/2014/main" id="{4CF6789D-4106-4952-9849-D7EB17FA5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0"/>
            <a:ext cx="3524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B9647B3F-3B5B-4AA7-ADFF-0D74629C7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05000"/>
            <a:ext cx="1000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5484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5484D"/>
                </a:solidFill>
                <a:latin typeface="Arial"/>
                <a:ea typeface="Arial"/>
                <a:cs typeface="Arial"/>
              </a:rPr>
              <a:t>0–30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D2FF54B7-B4A8-4307-AB36-B4E308B9C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1905000"/>
            <a:ext cx="2047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31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1318"/>
                </a:solidFill>
                <a:latin typeface="Arial"/>
                <a:ea typeface="Arial"/>
                <a:cs typeface="Arial"/>
              </a:rPr>
              <a:t>BRIEF + TEAM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6F4820CF-26F4-4772-8A11-1B9EFE7D1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57450"/>
            <a:ext cx="304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E6673"/>
                </a:solidFill>
                <a:latin typeface="Arial"/>
                <a:ea typeface="Arial"/>
                <a:cs typeface="Arial"/>
              </a:rPr>
              <a:t>Understand the mission and roles</a:t>
            </a:r>
          </a:p>
        </p:txBody>
      </p:sp>
      <p:sp>
        <p:nvSpPr>
          <p:cNvPr id="9" name="box">
            <a:extLst xmlns:a="http://schemas.openxmlformats.org/drawingml/2006/main">
              <a:ext uri="{FF2B5EF4-FFF2-40B4-BE49-F238E27FC236}">
                <a16:creationId xmlns:a16="http://schemas.microsoft.com/office/drawing/2014/main" id="{15322127-81DD-4203-A0B4-BEDE5CB54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1714500"/>
            <a:ext cx="3524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4C76C3F5-823F-45E5-9D13-0CFE466FD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1905000"/>
            <a:ext cx="1000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5484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5484D"/>
                </a:solidFill>
                <a:latin typeface="Arial"/>
                <a:ea typeface="Arial"/>
                <a:cs typeface="Arial"/>
              </a:rPr>
              <a:t>30–45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8BC66E90-19E1-49C3-8282-037FE5DFA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1905000"/>
            <a:ext cx="2047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31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1318"/>
                </a:solidFill>
                <a:latin typeface="Arial"/>
                <a:ea typeface="Arial"/>
                <a:cs typeface="Arial"/>
              </a:rPr>
              <a:t>BASELINE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06C2C58B-E675-41B5-B07F-06596EED0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457450"/>
            <a:ext cx="304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E6673"/>
                </a:solidFill>
                <a:latin typeface="Arial"/>
                <a:ea typeface="Arial"/>
                <a:cs typeface="Arial"/>
              </a:rPr>
              <a:t>Observe the original Clawbot</a:t>
            </a:r>
          </a:p>
        </p:txBody>
      </p:sp>
      <p:sp>
        <p:nvSpPr>
          <p:cNvPr id="13" name="box">
            <a:extLst xmlns:a="http://schemas.openxmlformats.org/drawingml/2006/main">
              <a:ext uri="{FF2B5EF4-FFF2-40B4-BE49-F238E27FC236}">
                <a16:creationId xmlns:a16="http://schemas.microsoft.com/office/drawing/2014/main" id="{F616F6BC-9CB3-4419-9F2C-E7270479C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714500"/>
            <a:ext cx="3524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B8792AA5-4BEB-4EFF-82BE-57CD9AE48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905000"/>
            <a:ext cx="1000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5484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5484D"/>
                </a:solidFill>
                <a:latin typeface="Arial"/>
                <a:ea typeface="Arial"/>
                <a:cs typeface="Arial"/>
              </a:rPr>
              <a:t>45–65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49C95D76-8888-4B07-982D-41E6D2F7C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1905000"/>
            <a:ext cx="2047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31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1318"/>
                </a:solidFill>
                <a:latin typeface="Arial"/>
                <a:ea typeface="Arial"/>
                <a:cs typeface="Arial"/>
              </a:rPr>
              <a:t>INQUIRE + PLAN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1DE42C0A-2B08-4918-A733-EA2734F41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457450"/>
            <a:ext cx="304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E6673"/>
                </a:solidFill>
                <a:latin typeface="Arial"/>
                <a:ea typeface="Arial"/>
                <a:cs typeface="Arial"/>
              </a:rPr>
              <a:t>Choose one problem and hypothesis</a:t>
            </a:r>
          </a:p>
        </p:txBody>
      </p:sp>
      <p:sp>
        <p:nvSpPr>
          <p:cNvPr id="17" name="box">
            <a:extLst xmlns:a="http://schemas.openxmlformats.org/drawingml/2006/main">
              <a:ext uri="{FF2B5EF4-FFF2-40B4-BE49-F238E27FC236}">
                <a16:creationId xmlns:a16="http://schemas.microsoft.com/office/drawing/2014/main" id="{AD819529-74AB-4E9F-90A5-99F89451C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0"/>
            <a:ext cx="3524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AFE338C8-B706-4343-844B-F005F7211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05250"/>
            <a:ext cx="1000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478F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478F6"/>
                </a:solidFill>
                <a:latin typeface="Arial"/>
                <a:ea typeface="Arial"/>
                <a:cs typeface="Arial"/>
              </a:rPr>
              <a:t>65–110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1A1A3561-C6D9-434C-BEC1-DC3985B89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3905250"/>
            <a:ext cx="2047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31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1318"/>
                </a:solidFill>
                <a:latin typeface="Arial"/>
                <a:ea typeface="Arial"/>
                <a:cs typeface="Arial"/>
              </a:rPr>
              <a:t>BUILD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EE7B4B6C-78C2-4D75-8BFA-97BCAA42A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57700"/>
            <a:ext cx="304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E6673"/>
                </a:solidFill>
                <a:latin typeface="Arial"/>
                <a:ea typeface="Arial"/>
                <a:cs typeface="Arial"/>
              </a:rPr>
              <a:t>Create one focused improvement</a:t>
            </a:r>
          </a:p>
        </p:txBody>
      </p:sp>
      <p:sp>
        <p:nvSpPr>
          <p:cNvPr id="21" name="box">
            <a:extLst xmlns:a="http://schemas.openxmlformats.org/drawingml/2006/main">
              <a:ext uri="{FF2B5EF4-FFF2-40B4-BE49-F238E27FC236}">
                <a16:creationId xmlns:a16="http://schemas.microsoft.com/office/drawing/2014/main" id="{3ECC95DE-4A87-4852-BB09-127FEA466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714750"/>
            <a:ext cx="3524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8FFC60CF-628D-4E56-AC08-528002532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905250"/>
            <a:ext cx="1000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478F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478F6"/>
                </a:solidFill>
                <a:latin typeface="Arial"/>
                <a:ea typeface="Arial"/>
                <a:cs typeface="Arial"/>
              </a:rPr>
              <a:t>110–150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8E601C53-1E39-4F8D-A0C6-A10BA2F5B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905250"/>
            <a:ext cx="2047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31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1318"/>
                </a:solidFill>
                <a:latin typeface="Arial"/>
                <a:ea typeface="Arial"/>
                <a:cs typeface="Arial"/>
              </a:rPr>
              <a:t>TEST + IMPROVE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77EA1421-FC43-4BAB-A852-6CE1E13F0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4457700"/>
            <a:ext cx="304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E6673"/>
                </a:solidFill>
                <a:latin typeface="Arial"/>
                <a:ea typeface="Arial"/>
                <a:cs typeface="Arial"/>
              </a:rPr>
              <a:t>Run trials and use the evidence</a:t>
            </a:r>
          </a:p>
        </p:txBody>
      </p:sp>
      <p:sp>
        <p:nvSpPr>
          <p:cNvPr id="25" name="box">
            <a:extLst xmlns:a="http://schemas.openxmlformats.org/drawingml/2006/main">
              <a:ext uri="{FF2B5EF4-FFF2-40B4-BE49-F238E27FC236}">
                <a16:creationId xmlns:a16="http://schemas.microsoft.com/office/drawing/2014/main" id="{E2CA92F9-9EE7-4FDD-8968-363C1F08B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714750"/>
            <a:ext cx="3524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78E135C7-1261-42AF-B04F-B0870F921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905250"/>
            <a:ext cx="1000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478F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478F6"/>
                </a:solidFill>
                <a:latin typeface="Arial"/>
                <a:ea typeface="Arial"/>
                <a:cs typeface="Arial"/>
              </a:rPr>
              <a:t>150–180</a:t>
            </a:r>
          </a:p>
        </p:txBody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4F6E2667-C39F-4C41-BEA9-519A9EC13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3905250"/>
            <a:ext cx="2047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31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1318"/>
                </a:solidFill>
                <a:latin typeface="Arial"/>
                <a:ea typeface="Arial"/>
                <a:cs typeface="Arial"/>
              </a:rPr>
              <a:t>PRESENT</a:t>
            </a:r>
          </a:p>
        </p:txBody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7D0DCF81-3069-49DC-91CD-E2A41180D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457700"/>
            <a:ext cx="304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E6673"/>
                </a:solidFill>
                <a:latin typeface="Arial"/>
                <a:ea typeface="Arial"/>
                <a:cs typeface="Arial"/>
              </a:rPr>
              <a:t>Demo, defend and reflect</a:t>
            </a:r>
          </a:p>
        </p:txBody>
      </p:sp>
      <p:sp>
        <p:nvSpPr>
          <p:cNvPr id="29" name="source">
            <a:extLst xmlns:a="http://schemas.openxmlformats.org/drawingml/2006/main">
              <a:ext uri="{FF2B5EF4-FFF2-40B4-BE49-F238E27FC236}">
                <a16:creationId xmlns:a16="http://schemas.microsoft.com/office/drawing/2014/main" id="{B7C26986-10CF-4C67-A213-9A7AD56DD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990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0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4D1B4E53-0FFB-4A4E-B615-B3A3A18A3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E6673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50009989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8DCF8BAC-CFBB-4354-9E66-620400BDE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478F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478F6"/>
                </a:solidFill>
                <a:latin typeface="Arial"/>
                <a:ea typeface="Arial"/>
                <a:cs typeface="Arial"/>
              </a:rPr>
              <a:t>STAGE 1 · 15 MINUTES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2E82E95-4DB2-4BE4-8391-9E08A362F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31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1318"/>
                </a:solidFill>
                <a:latin typeface="Arial"/>
                <a:ea typeface="Arial"/>
                <a:cs typeface="Arial"/>
              </a:rPr>
              <a:t>Baseline first: observe before you redesign</a:t>
            </a:r>
          </a:p>
        </p:txBody>
      </p:sp>
      <p:sp>
        <p:nvSpPr>
          <p:cNvPr id="3" name="source">
            <a:extLst xmlns:a="http://schemas.openxmlformats.org/drawingml/2006/main">
              <a:ext uri="{FF2B5EF4-FFF2-40B4-BE49-F238E27FC236}">
                <a16:creationId xmlns:a16="http://schemas.microsoft.com/office/drawing/2014/main" id="{C34C89F1-2B20-41A9-8A77-C138DC865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990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63D1F11B-E670-43F2-8815-1F3427BAB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E6673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1802670F-4E1D-46DF-ADDD-BE6A25685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66875"/>
            <a:ext cx="657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31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1318"/>
                </a:solidFill>
                <a:latin typeface="Arial"/>
                <a:ea typeface="Arial"/>
                <a:cs typeface="Arial"/>
              </a:rPr>
              <a:t>Run the original Clawbot for 60 seconds. Do not modify it yet.</a:t>
            </a:r>
          </a:p>
        </p:txBody>
      </p:sp>
      <p:sp>
        <p:nvSpPr>
          <p:cNvPr id="6" name="box">
            <a:extLst xmlns:a="http://schemas.openxmlformats.org/drawingml/2006/main">
              <a:ext uri="{FF2B5EF4-FFF2-40B4-BE49-F238E27FC236}">
                <a16:creationId xmlns:a16="http://schemas.microsoft.com/office/drawing/2014/main" id="{CAC32245-C08D-44CA-97D4-25DA2826D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0"/>
            <a:ext cx="581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75A38CF4-BABF-460A-96F4-E0C33F007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05100"/>
            <a:ext cx="409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31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1318"/>
                </a:solidFill>
                <a:latin typeface="Arial"/>
                <a:ea typeface="Arial"/>
                <a:cs typeface="Arial"/>
              </a:rPr>
              <a:t>Objects reached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12A5209A-82D1-4D7E-86D5-5B138C16D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705100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3478F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478F6"/>
                </a:solidFill>
                <a:latin typeface="Arial"/>
                <a:ea typeface="Arial"/>
                <a:cs typeface="Arial"/>
              </a:rPr>
              <a:t>#</a:t>
            </a:r>
          </a:p>
        </p:txBody>
      </p:sp>
      <p:sp>
        <p:nvSpPr>
          <p:cNvPr id="9" name="box">
            <a:extLst xmlns:a="http://schemas.openxmlformats.org/drawingml/2006/main">
              <a:ext uri="{FF2B5EF4-FFF2-40B4-BE49-F238E27FC236}">
                <a16:creationId xmlns:a16="http://schemas.microsoft.com/office/drawing/2014/main" id="{8DC690F3-55F3-4AE5-81BE-F7086A134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57550"/>
            <a:ext cx="581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0E6C9333-71BB-4270-9D6E-5F9BEBF3C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90900"/>
            <a:ext cx="409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31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1318"/>
                </a:solidFill>
                <a:latin typeface="Arial"/>
                <a:ea typeface="Arial"/>
                <a:cs typeface="Arial"/>
              </a:rPr>
              <a:t>Successful deliveries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545D6EDC-463F-470D-BA8E-3A47F881D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390900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3478F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478F6"/>
                </a:solidFill>
                <a:latin typeface="Arial"/>
                <a:ea typeface="Arial"/>
                <a:cs typeface="Arial"/>
              </a:rPr>
              <a:t>#</a:t>
            </a:r>
          </a:p>
        </p:txBody>
      </p:sp>
      <p:sp>
        <p:nvSpPr>
          <p:cNvPr id="12" name="box">
            <a:extLst xmlns:a="http://schemas.openxmlformats.org/drawingml/2006/main">
              <a:ext uri="{FF2B5EF4-FFF2-40B4-BE49-F238E27FC236}">
                <a16:creationId xmlns:a16="http://schemas.microsoft.com/office/drawing/2014/main" id="{1A321A64-B3A4-43A6-AA85-4D64FF8EC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43350"/>
            <a:ext cx="581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57836130-D00E-4477-95FE-F11358B71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76700"/>
            <a:ext cx="409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31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1318"/>
                </a:solidFill>
                <a:latin typeface="Arial"/>
                <a:ea typeface="Arial"/>
                <a:cs typeface="Arial"/>
              </a:rPr>
              <a:t>Drops / errors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938F25F6-6C84-439E-AF8B-FE660DF66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4076700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3478F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478F6"/>
                </a:solidFill>
                <a:latin typeface="Arial"/>
                <a:ea typeface="Arial"/>
                <a:cs typeface="Arial"/>
              </a:rPr>
              <a:t>#</a:t>
            </a:r>
          </a:p>
        </p:txBody>
      </p:sp>
      <p:sp>
        <p:nvSpPr>
          <p:cNvPr id="15" name="box">
            <a:extLst xmlns:a="http://schemas.openxmlformats.org/drawingml/2006/main">
              <a:ext uri="{FF2B5EF4-FFF2-40B4-BE49-F238E27FC236}">
                <a16:creationId xmlns:a16="http://schemas.microsoft.com/office/drawing/2014/main" id="{C2FF41F0-3C34-44C6-BEA5-66248E979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29150"/>
            <a:ext cx="581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72BE4821-8E57-4F84-A1CD-F4CC1B13B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62500"/>
            <a:ext cx="409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31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1318"/>
                </a:solidFill>
                <a:latin typeface="Arial"/>
                <a:ea typeface="Arial"/>
                <a:cs typeface="Arial"/>
              </a:rPr>
              <a:t>Completion time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4A46A9FC-EEE1-475D-94B9-7036EB1C5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4762500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3478F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478F6"/>
                </a:solidFill>
                <a:latin typeface="Arial"/>
                <a:ea typeface="Arial"/>
                <a:cs typeface="Arial"/>
              </a:rPr>
              <a:t>seconds</a:t>
            </a:r>
          </a:p>
        </p:txBody>
      </p:sp>
      <p:sp>
        <p:nvSpPr>
          <p:cNvPr id="18" name="box">
            <a:extLst xmlns:a="http://schemas.openxmlformats.org/drawingml/2006/main">
              <a:ext uri="{FF2B5EF4-FFF2-40B4-BE49-F238E27FC236}">
                <a16:creationId xmlns:a16="http://schemas.microsoft.com/office/drawing/2014/main" id="{4B04FE37-FC81-4C55-A449-963101ED4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1714500"/>
            <a:ext cx="4333875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5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504E9CAA-43B3-4089-AF67-8A8EA56D0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047875"/>
            <a:ext cx="3619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6C34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6C344"/>
                </a:solidFill>
                <a:latin typeface="Arial"/>
                <a:ea typeface="Arial"/>
                <a:cs typeface="Arial"/>
              </a:rPr>
              <a:t>OBSERVE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2B06C761-BE75-48D8-A1F3-E9EF0209D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667000"/>
            <a:ext cx="3429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What failed?</a:t>
            </a:r>
          </a:p>
          <a:p xmlns:a="http://schemas.openxmlformats.org/drawingml/2006/main">
            <a:pPr algn="l"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Where was time lost?</a:t>
            </a:r>
          </a:p>
          <a:p xmlns:a="http://schemas.openxmlformats.org/drawingml/2006/main">
            <a:pPr algn="l"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What caused drops?</a:t>
            </a:r>
          </a:p>
          <a:p xmlns:a="http://schemas.openxmlformats.org/drawingml/2006/main">
            <a:pPr algn="l"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What was difficult to control?</a:t>
            </a:r>
          </a:p>
        </p:txBody>
      </p:sp>
      <p:sp>
        <p:nvSpPr>
          <p:cNvPr id="21" name="source">
            <a:extLst xmlns:a="http://schemas.openxmlformats.org/drawingml/2006/main">
              <a:ext uri="{FF2B5EF4-FFF2-40B4-BE49-F238E27FC236}">
                <a16:creationId xmlns:a16="http://schemas.microsoft.com/office/drawing/2014/main" id="{46A10E5E-E442-4CD5-881B-A0C4E2C19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990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97EC5E6D-E6D9-4E18-BF94-1F9129BD4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E6673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86401617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166EA4D7-FE08-4612-AC1D-6176614BC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478F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478F6"/>
                </a:solidFill>
                <a:latin typeface="Arial"/>
                <a:ea typeface="Arial"/>
                <a:cs typeface="Arial"/>
              </a:rPr>
              <a:t>RAPID INQUIRY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CAEE53C-8CBD-4B18-A31C-4A1A05D43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31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1318"/>
                </a:solidFill>
                <a:latin typeface="Arial"/>
                <a:ea typeface="Arial"/>
                <a:cs typeface="Arial"/>
              </a:rPr>
              <a:t>Turn one observation into a testable design idea</a:t>
            </a:r>
          </a:p>
        </p:txBody>
      </p:sp>
      <p:sp>
        <p:nvSpPr>
          <p:cNvPr id="3" name="source">
            <a:extLst xmlns:a="http://schemas.openxmlformats.org/drawingml/2006/main">
              <a:ext uri="{FF2B5EF4-FFF2-40B4-BE49-F238E27FC236}">
                <a16:creationId xmlns:a16="http://schemas.microsoft.com/office/drawing/2014/main" id="{48C1F538-BAC2-4820-A2E6-0E625B687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990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2AFE21F8-B948-4F15-A94A-7625FF24C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E6673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5" name="box">
            <a:extLst xmlns:a="http://schemas.openxmlformats.org/drawingml/2006/main">
              <a:ext uri="{FF2B5EF4-FFF2-40B4-BE49-F238E27FC236}">
                <a16:creationId xmlns:a16="http://schemas.microsoft.com/office/drawing/2014/main" id="{778A2301-7308-4834-B8E1-80BEF71D8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0"/>
            <a:ext cx="1952625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CB97D447-052B-49D4-BBCA-492E17888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81250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478F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478F6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FDB11872-AD8A-4338-8265-D1F5E9B4C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0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31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1318"/>
                </a:solidFill>
                <a:latin typeface="Arial"/>
                <a:ea typeface="Arial"/>
                <a:cs typeface="Arial"/>
              </a:rPr>
              <a:t>OBSERVE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B7BC7839-5E2C-42FB-B2F9-BC5197340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76625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E6673"/>
                </a:solidFill>
                <a:latin typeface="Arial"/>
                <a:ea typeface="Arial"/>
                <a:cs typeface="Arial"/>
              </a:rPr>
              <a:t>What happened?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374030-83D6-4F5F-8B34-0712A7EC7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2857500"/>
            <a:ext cx="333375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8CDD4"/>
          </a:solidFill>
          <a:ln xmlns:a="http://schemas.openxmlformats.org/drawingml/2006/main" w="0">
            <a:solidFill>
              <a:srgbClr val="C8CDD4"/>
            </a:solidFill>
            <a:prstDash val="solid"/>
          </a:ln>
        </p:spPr>
      </p:sp>
      <p:sp>
        <p:nvSpPr>
          <p:cNvPr id="10" name="box">
            <a:extLst xmlns:a="http://schemas.openxmlformats.org/drawingml/2006/main">
              <a:ext uri="{FF2B5EF4-FFF2-40B4-BE49-F238E27FC236}">
                <a16:creationId xmlns:a16="http://schemas.microsoft.com/office/drawing/2014/main" id="{92D1D520-DF55-4659-AC7E-CF44B0DFD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190750"/>
            <a:ext cx="1952625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D5CB7ED3-8D63-4854-B551-6E8967500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381250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478F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478F6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BF5577D1-6C80-4FA3-A2BC-AC4592042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857500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31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1318"/>
                </a:solidFill>
                <a:latin typeface="Arial"/>
                <a:ea typeface="Arial"/>
                <a:cs typeface="Arial"/>
              </a:rPr>
              <a:t>DEFINE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6EE6AA64-2BF0-41CE-99D5-6E72EA053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476625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E6673"/>
                </a:solidFill>
                <a:latin typeface="Arial"/>
                <a:ea typeface="Arial"/>
                <a:cs typeface="Arial"/>
              </a:rPr>
              <a:t>What is the main problem?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9614F7-A53F-4F7D-B7DD-76BAA7894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857500"/>
            <a:ext cx="333375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8CDD4"/>
          </a:solidFill>
          <a:ln xmlns:a="http://schemas.openxmlformats.org/drawingml/2006/main" w="0">
            <a:solidFill>
              <a:srgbClr val="C8CDD4"/>
            </a:solidFill>
            <a:prstDash val="solid"/>
          </a:ln>
        </p:spPr>
      </p:sp>
      <p:sp>
        <p:nvSpPr>
          <p:cNvPr id="15" name="box">
            <a:extLst xmlns:a="http://schemas.openxmlformats.org/drawingml/2006/main">
              <a:ext uri="{FF2B5EF4-FFF2-40B4-BE49-F238E27FC236}">
                <a16:creationId xmlns:a16="http://schemas.microsoft.com/office/drawing/2014/main" id="{3DEBEEDC-1E1A-42EE-A46B-DA9854F49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190750"/>
            <a:ext cx="1952625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65EB4BC6-BAB8-490E-92A4-DFAA2D81E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381250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5484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5484D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BAE4CD51-0063-40DF-A423-89DCD4D8B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857500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31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1318"/>
                </a:solidFill>
                <a:latin typeface="Arial"/>
                <a:ea typeface="Arial"/>
                <a:cs typeface="Arial"/>
              </a:rPr>
              <a:t>HYPOTHESIZE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4239E912-7E16-4878-B439-B3F4D0E56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476625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E6673"/>
                </a:solidFill>
                <a:latin typeface="Arial"/>
                <a:ea typeface="Arial"/>
                <a:cs typeface="Arial"/>
              </a:rPr>
              <a:t>If we change X…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26B7D0-FB07-4DF7-9671-E2D225917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2857500"/>
            <a:ext cx="333375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8CDD4"/>
          </a:solidFill>
          <a:ln xmlns:a="http://schemas.openxmlformats.org/drawingml/2006/main" w="0">
            <a:solidFill>
              <a:srgbClr val="C8CDD4"/>
            </a:solidFill>
            <a:prstDash val="solid"/>
          </a:ln>
        </p:spPr>
      </p:sp>
      <p:sp>
        <p:nvSpPr>
          <p:cNvPr id="20" name="box">
            <a:extLst xmlns:a="http://schemas.openxmlformats.org/drawingml/2006/main">
              <a:ext uri="{FF2B5EF4-FFF2-40B4-BE49-F238E27FC236}">
                <a16:creationId xmlns:a16="http://schemas.microsoft.com/office/drawing/2014/main" id="{E0728893-EC8F-4EB2-89A5-ABACE5175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190750"/>
            <a:ext cx="1952625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13242872-D4D7-4C8A-81E1-5FB420A08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381250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478F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478F6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9F82D5F2-55D4-4365-8A78-D31E571E0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857500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31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1318"/>
                </a:solidFill>
                <a:latin typeface="Arial"/>
                <a:ea typeface="Arial"/>
                <a:cs typeface="Arial"/>
              </a:rPr>
              <a:t>DESIGN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5F7102EE-89FA-48F0-AEAB-4A1C55E7C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476625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E6673"/>
                </a:solidFill>
                <a:latin typeface="Arial"/>
                <a:ea typeface="Arial"/>
                <a:cs typeface="Arial"/>
              </a:rPr>
              <a:t>What will we build?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EE9BEC0-3F6A-492C-BD83-9DD9EE76C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2857500"/>
            <a:ext cx="333375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8CDD4"/>
          </a:solidFill>
          <a:ln xmlns:a="http://schemas.openxmlformats.org/drawingml/2006/main" w="0">
            <a:solidFill>
              <a:srgbClr val="C8CDD4"/>
            </a:solidFill>
            <a:prstDash val="solid"/>
          </a:ln>
        </p:spPr>
      </p:sp>
      <p:sp>
        <p:nvSpPr>
          <p:cNvPr id="25" name="box">
            <a:extLst xmlns:a="http://schemas.openxmlformats.org/drawingml/2006/main">
              <a:ext uri="{FF2B5EF4-FFF2-40B4-BE49-F238E27FC236}">
                <a16:creationId xmlns:a16="http://schemas.microsoft.com/office/drawing/2014/main" id="{FAFF242B-6938-4859-8691-988B1A126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190750"/>
            <a:ext cx="1952625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6EDC221D-5E0C-4470-9259-4BD8B37FD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381250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478F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478F6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57FFC116-3563-4E19-9AF7-D4B30ACB4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857500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31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1318"/>
                </a:solidFill>
                <a:latin typeface="Arial"/>
                <a:ea typeface="Arial"/>
                <a:cs typeface="Arial"/>
              </a:rPr>
              <a:t>PREDICT EVIDENCE</a:t>
            </a:r>
          </a:p>
        </p:txBody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47534A83-B017-4E3A-A97B-0D366DD4A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476625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E6673"/>
                </a:solidFill>
                <a:latin typeface="Arial"/>
                <a:ea typeface="Arial"/>
                <a:cs typeface="Arial"/>
              </a:rPr>
              <a:t>What result should improve?</a:t>
            </a:r>
          </a:p>
        </p:txBody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2A21C14A-5270-4B71-8A06-3E3B92754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48250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31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1318"/>
                </a:solidFill>
                <a:latin typeface="Arial"/>
                <a:ea typeface="Arial"/>
                <a:cs typeface="Arial"/>
              </a:rPr>
              <a:t>Hypothesis frame: If we __________, then the robot will __________ because __________.</a:t>
            </a:r>
          </a:p>
        </p:txBody>
      </p:sp>
      <p:sp>
        <p:nvSpPr>
          <p:cNvPr id="30" name="source">
            <a:extLst xmlns:a="http://schemas.openxmlformats.org/drawingml/2006/main">
              <a:ext uri="{FF2B5EF4-FFF2-40B4-BE49-F238E27FC236}">
                <a16:creationId xmlns:a16="http://schemas.microsoft.com/office/drawing/2014/main" id="{F6EABD34-9D52-4D5C-BBDE-F0BC5AA1C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990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1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9004A73E-D886-4C29-84BA-1B52105FD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E6673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67352116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5F9110AB-440B-42F1-AC72-5EB715CBC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478F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478F6"/>
                </a:solidFill>
                <a:latin typeface="Arial"/>
                <a:ea typeface="Arial"/>
                <a:cs typeface="Arial"/>
              </a:rPr>
              <a:t>PROTOTYPE · 45 MINUTES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8E4E5EE-1458-4EE5-9D4A-F1F972CCB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31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1318"/>
                </a:solidFill>
                <a:latin typeface="Arial"/>
                <a:ea typeface="Arial"/>
                <a:cs typeface="Arial"/>
              </a:rPr>
              <a:t>Build one change that directly answers your hypothesis</a:t>
            </a:r>
          </a:p>
        </p:txBody>
      </p:sp>
      <p:sp>
        <p:nvSpPr>
          <p:cNvPr id="3" name="source">
            <a:extLst xmlns:a="http://schemas.openxmlformats.org/drawingml/2006/main">
              <a:ext uri="{FF2B5EF4-FFF2-40B4-BE49-F238E27FC236}">
                <a16:creationId xmlns:a16="http://schemas.microsoft.com/office/drawing/2014/main" id="{9465817B-35C6-4196-BA16-EF78F4BBE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990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86D0039C-6150-407B-BE1D-668E0FB2F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E6673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5" name="box">
            <a:extLst xmlns:a="http://schemas.openxmlformats.org/drawingml/2006/main">
              <a:ext uri="{FF2B5EF4-FFF2-40B4-BE49-F238E27FC236}">
                <a16:creationId xmlns:a16="http://schemas.microsoft.com/office/drawing/2014/main" id="{475B9685-E54E-4FE8-98A0-73A5BF182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62125"/>
            <a:ext cx="5429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C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E3E1D15E-9067-4866-910A-114ABB71C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0002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5484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E5484D"/>
                </a:solidFill>
                <a:latin typeface="Arial"/>
                <a:ea typeface="Arial"/>
                <a:cs typeface="Arial"/>
              </a:rPr>
              <a:t>ATTACHMENT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30B12391-F941-4AD0-A04A-FC38228BF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47650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E6673"/>
                </a:solidFill>
                <a:latin typeface="Arial"/>
                <a:ea typeface="Arial"/>
                <a:cs typeface="Arial"/>
              </a:rPr>
              <a:t>Guide, grip or hold objects more effectively</a:t>
            </a:r>
          </a:p>
        </p:txBody>
      </p:sp>
      <p:sp>
        <p:nvSpPr>
          <p:cNvPr id="8" name="box">
            <a:extLst xmlns:a="http://schemas.openxmlformats.org/drawingml/2006/main">
              <a:ext uri="{FF2B5EF4-FFF2-40B4-BE49-F238E27FC236}">
                <a16:creationId xmlns:a16="http://schemas.microsoft.com/office/drawing/2014/main" id="{B011FC26-92BE-4102-9CCB-DE691137F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762125"/>
            <a:ext cx="5429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10118626-DBC7-4AC2-8A0E-D350716A7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20002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478F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478F6"/>
                </a:solidFill>
                <a:latin typeface="Arial"/>
                <a:ea typeface="Arial"/>
                <a:cs typeface="Arial"/>
              </a:rPr>
              <a:t>CLAW ADJUSTMENT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9F0DE92D-2307-4957-A9A8-B12D38780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247650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E6673"/>
                </a:solidFill>
                <a:latin typeface="Arial"/>
                <a:ea typeface="Arial"/>
                <a:cs typeface="Arial"/>
              </a:rPr>
              <a:t>Change contact, angle or stability</a:t>
            </a:r>
          </a:p>
        </p:txBody>
      </p:sp>
      <p:sp>
        <p:nvSpPr>
          <p:cNvPr id="11" name="box">
            <a:extLst xmlns:a="http://schemas.openxmlformats.org/drawingml/2006/main">
              <a:ext uri="{FF2B5EF4-FFF2-40B4-BE49-F238E27FC236}">
                <a16:creationId xmlns:a16="http://schemas.microsoft.com/office/drawing/2014/main" id="{0B831DB7-4DC3-460A-8206-3A481CB55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71875"/>
            <a:ext cx="5429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5EA6FDEE-D1E4-4710-8FE6-AE8C93731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8100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31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318"/>
                </a:solidFill>
                <a:latin typeface="Arial"/>
                <a:ea typeface="Arial"/>
                <a:cs typeface="Arial"/>
              </a:rPr>
              <a:t>DRIVING STRATEGY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09CD2462-86EA-4619-9CED-ACFD29DCC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28625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E6673"/>
                </a:solidFill>
                <a:latin typeface="Arial"/>
                <a:ea typeface="Arial"/>
                <a:cs typeface="Arial"/>
              </a:rPr>
              <a:t>Optimize route, approach and action sequence</a:t>
            </a:r>
          </a:p>
        </p:txBody>
      </p:sp>
      <p:sp>
        <p:nvSpPr>
          <p:cNvPr id="14" name="box">
            <a:extLst xmlns:a="http://schemas.openxmlformats.org/drawingml/2006/main">
              <a:ext uri="{FF2B5EF4-FFF2-40B4-BE49-F238E27FC236}">
                <a16:creationId xmlns:a16="http://schemas.microsoft.com/office/drawing/2014/main" id="{4BF6C0D4-D43E-4043-8A9C-519011BB1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571875"/>
            <a:ext cx="5429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6E231DCF-7E63-4C60-9E6F-1526EE395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8100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31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318"/>
                </a:solidFill>
                <a:latin typeface="Arial"/>
                <a:ea typeface="Arial"/>
                <a:cs typeface="Arial"/>
              </a:rPr>
              <a:t>SIMPLE CONTROL CHANGE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E15B8304-C8E1-4DC3-8C8B-86F7CBB69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428625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E6673"/>
                </a:solidFill>
                <a:latin typeface="Arial"/>
                <a:ea typeface="Arial"/>
                <a:cs typeface="Arial"/>
              </a:rPr>
              <a:t>Adjust speed or add basic assistance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15DACE80-EBD4-49E0-BA9A-F969995C2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67375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31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1318"/>
                </a:solidFill>
                <a:latin typeface="Arial"/>
                <a:ea typeface="Arial"/>
                <a:cs typeface="Arial"/>
              </a:rPr>
              <a:t>Decision check: Can we build it safely, test it fairly and explain why it should work?</a:t>
            </a:r>
          </a:p>
        </p:txBody>
      </p:sp>
      <p:sp>
        <p:nvSpPr>
          <p:cNvPr id="18" name="source">
            <a:extLst xmlns:a="http://schemas.openxmlformats.org/drawingml/2006/main">
              <a:ext uri="{FF2B5EF4-FFF2-40B4-BE49-F238E27FC236}">
                <a16:creationId xmlns:a16="http://schemas.microsoft.com/office/drawing/2014/main" id="{1C6C2A39-089C-460A-ACD2-C562DC6A7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990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9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1A7DD3AD-0F8F-4BE5-BCCE-483F27765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E6673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58436081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6D4F943A-7F13-4A2D-BFE3-BB35A9A9D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478F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478F6"/>
                </a:solidFill>
                <a:latin typeface="Arial"/>
                <a:ea typeface="Arial"/>
                <a:cs typeface="Arial"/>
              </a:rPr>
              <a:t>TEST · 25 MINUTES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F7B9401-4685-45D6-98BD-2B7E161CB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31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1318"/>
                </a:solidFill>
                <a:latin typeface="Arial"/>
                <a:ea typeface="Arial"/>
                <a:cs typeface="Arial"/>
              </a:rPr>
              <a:t>Three trials turn a prototype into evidence</a:t>
            </a:r>
          </a:p>
        </p:txBody>
      </p:sp>
      <p:sp>
        <p:nvSpPr>
          <p:cNvPr id="3" name="source">
            <a:extLst xmlns:a="http://schemas.openxmlformats.org/drawingml/2006/main">
              <a:ext uri="{FF2B5EF4-FFF2-40B4-BE49-F238E27FC236}">
                <a16:creationId xmlns:a16="http://schemas.microsoft.com/office/drawing/2014/main" id="{0C7C1C7F-54B7-4ADC-9DC6-B9A9FA95A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990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940536F6-BC2D-4C80-B549-A7F40C1FB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E6673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5" name="box">
            <a:extLst xmlns:a="http://schemas.openxmlformats.org/drawingml/2006/main">
              <a:ext uri="{FF2B5EF4-FFF2-40B4-BE49-F238E27FC236}">
                <a16:creationId xmlns:a16="http://schemas.microsoft.com/office/drawing/2014/main" id="{E1936420-3D32-4FBC-B846-84E673870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2190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5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3061A7A8-9E82-48D9-96CE-031B4B58C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7167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TEST</a:t>
            </a:r>
          </a:p>
        </p:txBody>
      </p:sp>
      <p:sp>
        <p:nvSpPr>
          <p:cNvPr id="7" name="box">
            <a:extLst xmlns:a="http://schemas.openxmlformats.org/drawingml/2006/main">
              <a:ext uri="{FF2B5EF4-FFF2-40B4-BE49-F238E27FC236}">
                <a16:creationId xmlns:a16="http://schemas.microsoft.com/office/drawing/2014/main" id="{137521D7-BF06-4BD6-B1F1-6CF99EB3E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809750"/>
            <a:ext cx="20955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5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8F100D9F-C10E-4043-87E5-EF454CF77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1971675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DELIVERED</a:t>
            </a:r>
          </a:p>
        </p:txBody>
      </p:sp>
      <p:sp>
        <p:nvSpPr>
          <p:cNvPr id="9" name="box">
            <a:extLst xmlns:a="http://schemas.openxmlformats.org/drawingml/2006/main">
              <a:ext uri="{FF2B5EF4-FFF2-40B4-BE49-F238E27FC236}">
                <a16:creationId xmlns:a16="http://schemas.microsoft.com/office/drawing/2014/main" id="{91151424-555F-4E03-AC51-0FC70AF37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809750"/>
            <a:ext cx="20955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5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0E2A686A-D2D5-4DC9-A60B-F1F9C8066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971675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CORRECT</a:t>
            </a:r>
          </a:p>
        </p:txBody>
      </p:sp>
      <p:sp>
        <p:nvSpPr>
          <p:cNvPr id="11" name="box">
            <a:extLst xmlns:a="http://schemas.openxmlformats.org/drawingml/2006/main">
              <a:ext uri="{FF2B5EF4-FFF2-40B4-BE49-F238E27FC236}">
                <a16:creationId xmlns:a16="http://schemas.microsoft.com/office/drawing/2014/main" id="{89D7CC02-DC83-4DB4-A3F9-6CAF09675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809750"/>
            <a:ext cx="26670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5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E2891CA5-23C0-44AB-81D1-39D4737AC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971675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DROPS / ERRORS</a:t>
            </a:r>
          </a:p>
        </p:txBody>
      </p:sp>
      <p:sp>
        <p:nvSpPr>
          <p:cNvPr id="13" name="box">
            <a:extLst xmlns:a="http://schemas.openxmlformats.org/drawingml/2006/main">
              <a:ext uri="{FF2B5EF4-FFF2-40B4-BE49-F238E27FC236}">
                <a16:creationId xmlns:a16="http://schemas.microsoft.com/office/drawing/2014/main" id="{420B4C82-A080-40C8-A25A-8F5C843B1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809750"/>
            <a:ext cx="2000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5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BC45FD84-6B72-4D14-B881-FC21C8322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971675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TIME</a:t>
            </a:r>
          </a:p>
        </p:txBody>
      </p:sp>
      <p:sp>
        <p:nvSpPr>
          <p:cNvPr id="15" name="box">
            <a:extLst xmlns:a="http://schemas.openxmlformats.org/drawingml/2006/main">
              <a:ext uri="{FF2B5EF4-FFF2-40B4-BE49-F238E27FC236}">
                <a16:creationId xmlns:a16="http://schemas.microsoft.com/office/drawing/2014/main" id="{2FC50F37-9593-4E8D-8102-0F63AD3BF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33625"/>
            <a:ext cx="2190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E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01D28307-9393-4E01-8C74-B5E7AE366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33650"/>
            <a:ext cx="1962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31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318"/>
                </a:solidFill>
                <a:latin typeface="Arial"/>
                <a:ea typeface="Arial"/>
                <a:cs typeface="Arial"/>
              </a:rPr>
              <a:t>Baseline</a:t>
            </a:r>
          </a:p>
        </p:txBody>
      </p:sp>
      <p:sp>
        <p:nvSpPr>
          <p:cNvPr id="17" name="box">
            <a:extLst xmlns:a="http://schemas.openxmlformats.org/drawingml/2006/main">
              <a:ext uri="{FF2B5EF4-FFF2-40B4-BE49-F238E27FC236}">
                <a16:creationId xmlns:a16="http://schemas.microsoft.com/office/drawing/2014/main" id="{42EB55EB-5A4A-4A16-AAC5-2AE63E0ED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333625"/>
            <a:ext cx="2095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E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E0B34CF4-3E4D-4E91-BBEE-A07D47566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533650"/>
            <a:ext cx="1866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9" name="box">
            <a:extLst xmlns:a="http://schemas.openxmlformats.org/drawingml/2006/main">
              <a:ext uri="{FF2B5EF4-FFF2-40B4-BE49-F238E27FC236}">
                <a16:creationId xmlns:a16="http://schemas.microsoft.com/office/drawing/2014/main" id="{FA46E731-B933-4360-933B-028996F6B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333625"/>
            <a:ext cx="2095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E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DE79C41A-18B7-4A62-B289-8E18D2C9A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533650"/>
            <a:ext cx="1866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1" name="box">
            <a:extLst xmlns:a="http://schemas.openxmlformats.org/drawingml/2006/main">
              <a:ext uri="{FF2B5EF4-FFF2-40B4-BE49-F238E27FC236}">
                <a16:creationId xmlns:a16="http://schemas.microsoft.com/office/drawing/2014/main" id="{805756F6-B404-4653-A382-AE8BAE14B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333625"/>
            <a:ext cx="2667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E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88BAC5F5-2371-432C-BAE4-078C2DA1F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533650"/>
            <a:ext cx="2438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3" name="box">
            <a:extLst xmlns:a="http://schemas.openxmlformats.org/drawingml/2006/main">
              <a:ext uri="{FF2B5EF4-FFF2-40B4-BE49-F238E27FC236}">
                <a16:creationId xmlns:a16="http://schemas.microsoft.com/office/drawing/2014/main" id="{902194DF-B811-4EE5-A720-58ED322EB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333625"/>
            <a:ext cx="2000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E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392A9F92-613E-4225-8332-A57133042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533650"/>
            <a:ext cx="1771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5" name="box">
            <a:extLst xmlns:a="http://schemas.openxmlformats.org/drawingml/2006/main">
              <a:ext uri="{FF2B5EF4-FFF2-40B4-BE49-F238E27FC236}">
                <a16:creationId xmlns:a16="http://schemas.microsoft.com/office/drawing/2014/main" id="{73CD708E-BD59-49D7-B53F-7D1933404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81325"/>
            <a:ext cx="2190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7A1C42DF-661B-4135-A961-5C19AB719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81350"/>
            <a:ext cx="1962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31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318"/>
                </a:solidFill>
                <a:latin typeface="Arial"/>
                <a:ea typeface="Arial"/>
                <a:cs typeface="Arial"/>
              </a:rPr>
              <a:t>Trial 1</a:t>
            </a:r>
          </a:p>
        </p:txBody>
      </p:sp>
      <p:sp>
        <p:nvSpPr>
          <p:cNvPr id="27" name="box">
            <a:extLst xmlns:a="http://schemas.openxmlformats.org/drawingml/2006/main">
              <a:ext uri="{FF2B5EF4-FFF2-40B4-BE49-F238E27FC236}">
                <a16:creationId xmlns:a16="http://schemas.microsoft.com/office/drawing/2014/main" id="{A5B367B2-4334-4560-8D81-7C079804A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981325"/>
            <a:ext cx="2095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D8278895-CC9F-457E-A34D-CF445EE48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181350"/>
            <a:ext cx="1866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9" name="box">
            <a:extLst xmlns:a="http://schemas.openxmlformats.org/drawingml/2006/main">
              <a:ext uri="{FF2B5EF4-FFF2-40B4-BE49-F238E27FC236}">
                <a16:creationId xmlns:a16="http://schemas.microsoft.com/office/drawing/2014/main" id="{BE263634-2497-4D77-A172-85B8EA189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981325"/>
            <a:ext cx="2095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B39265D1-65EE-4A63-B2EC-B296ECFE2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181350"/>
            <a:ext cx="1866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1" name="box">
            <a:extLst xmlns:a="http://schemas.openxmlformats.org/drawingml/2006/main">
              <a:ext uri="{FF2B5EF4-FFF2-40B4-BE49-F238E27FC236}">
                <a16:creationId xmlns:a16="http://schemas.microsoft.com/office/drawing/2014/main" id="{00D234B1-DAE9-4CC8-AC68-120FD3490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981325"/>
            <a:ext cx="2667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9C744456-786A-4407-A14B-52EA7E0BC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181350"/>
            <a:ext cx="2438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3" name="box">
            <a:extLst xmlns:a="http://schemas.openxmlformats.org/drawingml/2006/main">
              <a:ext uri="{FF2B5EF4-FFF2-40B4-BE49-F238E27FC236}">
                <a16:creationId xmlns:a16="http://schemas.microsoft.com/office/drawing/2014/main" id="{0782404C-0508-41F2-BC09-829DF96D4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981325"/>
            <a:ext cx="2000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4" name="text">
            <a:extLst xmlns:a="http://schemas.openxmlformats.org/drawingml/2006/main">
              <a:ext uri="{FF2B5EF4-FFF2-40B4-BE49-F238E27FC236}">
                <a16:creationId xmlns:a16="http://schemas.microsoft.com/office/drawing/2014/main" id="{14C7BF1C-7115-486C-9A8B-E8B6D75B7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181350"/>
            <a:ext cx="1771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5" name="box">
            <a:extLst xmlns:a="http://schemas.openxmlformats.org/drawingml/2006/main">
              <a:ext uri="{FF2B5EF4-FFF2-40B4-BE49-F238E27FC236}">
                <a16:creationId xmlns:a16="http://schemas.microsoft.com/office/drawing/2014/main" id="{192E97CD-F1C4-4E96-BA05-63356A8F3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29025"/>
            <a:ext cx="2190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6" name="text">
            <a:extLst xmlns:a="http://schemas.openxmlformats.org/drawingml/2006/main">
              <a:ext uri="{FF2B5EF4-FFF2-40B4-BE49-F238E27FC236}">
                <a16:creationId xmlns:a16="http://schemas.microsoft.com/office/drawing/2014/main" id="{3E795924-8C39-4370-A743-23CC57B90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29050"/>
            <a:ext cx="1962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31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318"/>
                </a:solidFill>
                <a:latin typeface="Arial"/>
                <a:ea typeface="Arial"/>
                <a:cs typeface="Arial"/>
              </a:rPr>
              <a:t>Trial 2</a:t>
            </a:r>
          </a:p>
        </p:txBody>
      </p:sp>
      <p:sp>
        <p:nvSpPr>
          <p:cNvPr id="37" name="box">
            <a:extLst xmlns:a="http://schemas.openxmlformats.org/drawingml/2006/main">
              <a:ext uri="{FF2B5EF4-FFF2-40B4-BE49-F238E27FC236}">
                <a16:creationId xmlns:a16="http://schemas.microsoft.com/office/drawing/2014/main" id="{6394AABB-F246-43B9-852B-4E5B59164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629025"/>
            <a:ext cx="2095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8" name="text">
            <a:extLst xmlns:a="http://schemas.openxmlformats.org/drawingml/2006/main">
              <a:ext uri="{FF2B5EF4-FFF2-40B4-BE49-F238E27FC236}">
                <a16:creationId xmlns:a16="http://schemas.microsoft.com/office/drawing/2014/main" id="{2B06A039-5324-40ED-9391-FF92A5917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829050"/>
            <a:ext cx="1866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9" name="box">
            <a:extLst xmlns:a="http://schemas.openxmlformats.org/drawingml/2006/main">
              <a:ext uri="{FF2B5EF4-FFF2-40B4-BE49-F238E27FC236}">
                <a16:creationId xmlns:a16="http://schemas.microsoft.com/office/drawing/2014/main" id="{402B6FCE-7994-4210-80F2-36A9F484C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629025"/>
            <a:ext cx="2095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0" name="text">
            <a:extLst xmlns:a="http://schemas.openxmlformats.org/drawingml/2006/main">
              <a:ext uri="{FF2B5EF4-FFF2-40B4-BE49-F238E27FC236}">
                <a16:creationId xmlns:a16="http://schemas.microsoft.com/office/drawing/2014/main" id="{C85F8164-7EA2-4307-A06B-536053085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829050"/>
            <a:ext cx="1866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1" name="box">
            <a:extLst xmlns:a="http://schemas.openxmlformats.org/drawingml/2006/main">
              <a:ext uri="{FF2B5EF4-FFF2-40B4-BE49-F238E27FC236}">
                <a16:creationId xmlns:a16="http://schemas.microsoft.com/office/drawing/2014/main" id="{A3E71C2F-CE9E-479B-B25D-73C933439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629025"/>
            <a:ext cx="2667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2" name="text">
            <a:extLst xmlns:a="http://schemas.openxmlformats.org/drawingml/2006/main">
              <a:ext uri="{FF2B5EF4-FFF2-40B4-BE49-F238E27FC236}">
                <a16:creationId xmlns:a16="http://schemas.microsoft.com/office/drawing/2014/main" id="{03827838-A4DE-438A-BEC0-A3C5B8A11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829050"/>
            <a:ext cx="2438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3" name="box">
            <a:extLst xmlns:a="http://schemas.openxmlformats.org/drawingml/2006/main">
              <a:ext uri="{FF2B5EF4-FFF2-40B4-BE49-F238E27FC236}">
                <a16:creationId xmlns:a16="http://schemas.microsoft.com/office/drawing/2014/main" id="{9FC0146C-4323-4DE7-AF48-F0B468C5F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629025"/>
            <a:ext cx="2000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4" name="text">
            <a:extLst xmlns:a="http://schemas.openxmlformats.org/drawingml/2006/main">
              <a:ext uri="{FF2B5EF4-FFF2-40B4-BE49-F238E27FC236}">
                <a16:creationId xmlns:a16="http://schemas.microsoft.com/office/drawing/2014/main" id="{D84B928E-94B7-4497-B683-20F9F47CE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829050"/>
            <a:ext cx="1771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5" name="box">
            <a:extLst xmlns:a="http://schemas.openxmlformats.org/drawingml/2006/main">
              <a:ext uri="{FF2B5EF4-FFF2-40B4-BE49-F238E27FC236}">
                <a16:creationId xmlns:a16="http://schemas.microsoft.com/office/drawing/2014/main" id="{9EE8B704-3862-4A68-ABD0-6A8C4ADDA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76725"/>
            <a:ext cx="2190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6" name="text">
            <a:extLst xmlns:a="http://schemas.openxmlformats.org/drawingml/2006/main">
              <a:ext uri="{FF2B5EF4-FFF2-40B4-BE49-F238E27FC236}">
                <a16:creationId xmlns:a16="http://schemas.microsoft.com/office/drawing/2014/main" id="{A193647B-6B79-4447-A5F4-33AEE086B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76750"/>
            <a:ext cx="1962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31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318"/>
                </a:solidFill>
                <a:latin typeface="Arial"/>
                <a:ea typeface="Arial"/>
                <a:cs typeface="Arial"/>
              </a:rPr>
              <a:t>Trial 3</a:t>
            </a:r>
          </a:p>
        </p:txBody>
      </p:sp>
      <p:sp>
        <p:nvSpPr>
          <p:cNvPr id="47" name="box">
            <a:extLst xmlns:a="http://schemas.openxmlformats.org/drawingml/2006/main">
              <a:ext uri="{FF2B5EF4-FFF2-40B4-BE49-F238E27FC236}">
                <a16:creationId xmlns:a16="http://schemas.microsoft.com/office/drawing/2014/main" id="{9AD3FE44-5E7D-4B10-A877-F56055E3C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276725"/>
            <a:ext cx="2095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8" name="text">
            <a:extLst xmlns:a="http://schemas.openxmlformats.org/drawingml/2006/main">
              <a:ext uri="{FF2B5EF4-FFF2-40B4-BE49-F238E27FC236}">
                <a16:creationId xmlns:a16="http://schemas.microsoft.com/office/drawing/2014/main" id="{3C65C0DD-6553-4003-B19F-7D96BBAAD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476750"/>
            <a:ext cx="1866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9" name="box">
            <a:extLst xmlns:a="http://schemas.openxmlformats.org/drawingml/2006/main">
              <a:ext uri="{FF2B5EF4-FFF2-40B4-BE49-F238E27FC236}">
                <a16:creationId xmlns:a16="http://schemas.microsoft.com/office/drawing/2014/main" id="{CB0C3927-0ABD-4844-AE89-6D39B2290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276725"/>
            <a:ext cx="2095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0" name="text">
            <a:extLst xmlns:a="http://schemas.openxmlformats.org/drawingml/2006/main">
              <a:ext uri="{FF2B5EF4-FFF2-40B4-BE49-F238E27FC236}">
                <a16:creationId xmlns:a16="http://schemas.microsoft.com/office/drawing/2014/main" id="{ABCB7B33-D745-4046-A54C-BEF497CEF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476750"/>
            <a:ext cx="1866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1" name="box">
            <a:extLst xmlns:a="http://schemas.openxmlformats.org/drawingml/2006/main">
              <a:ext uri="{FF2B5EF4-FFF2-40B4-BE49-F238E27FC236}">
                <a16:creationId xmlns:a16="http://schemas.microsoft.com/office/drawing/2014/main" id="{B0E1EC2C-4530-4643-B230-96742F77C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276725"/>
            <a:ext cx="2667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2" name="text">
            <a:extLst xmlns:a="http://schemas.openxmlformats.org/drawingml/2006/main">
              <a:ext uri="{FF2B5EF4-FFF2-40B4-BE49-F238E27FC236}">
                <a16:creationId xmlns:a16="http://schemas.microsoft.com/office/drawing/2014/main" id="{D7F35115-118A-4FDB-8361-8DEF0F7BF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476750"/>
            <a:ext cx="2438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3" name="box">
            <a:extLst xmlns:a="http://schemas.openxmlformats.org/drawingml/2006/main">
              <a:ext uri="{FF2B5EF4-FFF2-40B4-BE49-F238E27FC236}">
                <a16:creationId xmlns:a16="http://schemas.microsoft.com/office/drawing/2014/main" id="{11BE910A-E8EC-40BF-9581-ED1FE4907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276725"/>
            <a:ext cx="2000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4" name="text">
            <a:extLst xmlns:a="http://schemas.openxmlformats.org/drawingml/2006/main">
              <a:ext uri="{FF2B5EF4-FFF2-40B4-BE49-F238E27FC236}">
                <a16:creationId xmlns:a16="http://schemas.microsoft.com/office/drawing/2014/main" id="{ED6841D4-A1D5-422B-82CE-EC49FD773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476750"/>
            <a:ext cx="1771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5" name="box">
            <a:extLst xmlns:a="http://schemas.openxmlformats.org/drawingml/2006/main">
              <a:ext uri="{FF2B5EF4-FFF2-40B4-BE49-F238E27FC236}">
                <a16:creationId xmlns:a16="http://schemas.microsoft.com/office/drawing/2014/main" id="{BECB665B-6759-470A-81CC-40674EDE7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24425"/>
            <a:ext cx="2190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6" name="text">
            <a:extLst xmlns:a="http://schemas.openxmlformats.org/drawingml/2006/main">
              <a:ext uri="{FF2B5EF4-FFF2-40B4-BE49-F238E27FC236}">
                <a16:creationId xmlns:a16="http://schemas.microsoft.com/office/drawing/2014/main" id="{FB5390EA-D5AB-469B-8E9D-5330DC2E6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24450"/>
            <a:ext cx="1962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31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318"/>
                </a:solidFill>
                <a:latin typeface="Arial"/>
                <a:ea typeface="Arial"/>
                <a:cs typeface="Arial"/>
              </a:rPr>
              <a:t>Final Test</a:t>
            </a:r>
          </a:p>
        </p:txBody>
      </p:sp>
      <p:sp>
        <p:nvSpPr>
          <p:cNvPr id="57" name="box">
            <a:extLst xmlns:a="http://schemas.openxmlformats.org/drawingml/2006/main">
              <a:ext uri="{FF2B5EF4-FFF2-40B4-BE49-F238E27FC236}">
                <a16:creationId xmlns:a16="http://schemas.microsoft.com/office/drawing/2014/main" id="{5AC74AFC-1649-4587-8EA3-D4E75C780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924425"/>
            <a:ext cx="2095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8" name="text">
            <a:extLst xmlns:a="http://schemas.openxmlformats.org/drawingml/2006/main">
              <a:ext uri="{FF2B5EF4-FFF2-40B4-BE49-F238E27FC236}">
                <a16:creationId xmlns:a16="http://schemas.microsoft.com/office/drawing/2014/main" id="{23AE93D4-1201-46BC-A4F0-EF35F1BD5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5124450"/>
            <a:ext cx="1866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9" name="box">
            <a:extLst xmlns:a="http://schemas.openxmlformats.org/drawingml/2006/main">
              <a:ext uri="{FF2B5EF4-FFF2-40B4-BE49-F238E27FC236}">
                <a16:creationId xmlns:a16="http://schemas.microsoft.com/office/drawing/2014/main" id="{3DCAFAB6-92A4-4175-B44D-4FF141A43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924425"/>
            <a:ext cx="2095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0" name="text">
            <a:extLst xmlns:a="http://schemas.openxmlformats.org/drawingml/2006/main">
              <a:ext uri="{FF2B5EF4-FFF2-40B4-BE49-F238E27FC236}">
                <a16:creationId xmlns:a16="http://schemas.microsoft.com/office/drawing/2014/main" id="{97F2063F-5835-417D-8E8C-27DDAA574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5124450"/>
            <a:ext cx="1866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1" name="box">
            <a:extLst xmlns:a="http://schemas.openxmlformats.org/drawingml/2006/main">
              <a:ext uri="{FF2B5EF4-FFF2-40B4-BE49-F238E27FC236}">
                <a16:creationId xmlns:a16="http://schemas.microsoft.com/office/drawing/2014/main" id="{BA06A2A2-5C02-4376-A045-B9B15012A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924425"/>
            <a:ext cx="2667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2" name="text">
            <a:extLst xmlns:a="http://schemas.openxmlformats.org/drawingml/2006/main">
              <a:ext uri="{FF2B5EF4-FFF2-40B4-BE49-F238E27FC236}">
                <a16:creationId xmlns:a16="http://schemas.microsoft.com/office/drawing/2014/main" id="{AACC8463-FE83-4453-9BCD-7D6196B15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124450"/>
            <a:ext cx="2438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3" name="box">
            <a:extLst xmlns:a="http://schemas.openxmlformats.org/drawingml/2006/main">
              <a:ext uri="{FF2B5EF4-FFF2-40B4-BE49-F238E27FC236}">
                <a16:creationId xmlns:a16="http://schemas.microsoft.com/office/drawing/2014/main" id="{5F3E176A-0C0B-4DC9-99AB-FE138540E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924425"/>
            <a:ext cx="2000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4" name="text">
            <a:extLst xmlns:a="http://schemas.openxmlformats.org/drawingml/2006/main">
              <a:ext uri="{FF2B5EF4-FFF2-40B4-BE49-F238E27FC236}">
                <a16:creationId xmlns:a16="http://schemas.microsoft.com/office/drawing/2014/main" id="{EACFD3B7-BFBE-4E8E-81EB-533652322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5124450"/>
            <a:ext cx="1771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5" name="source">
            <a:extLst xmlns:a="http://schemas.openxmlformats.org/drawingml/2006/main">
              <a:ext uri="{FF2B5EF4-FFF2-40B4-BE49-F238E27FC236}">
                <a16:creationId xmlns:a16="http://schemas.microsoft.com/office/drawing/2014/main" id="{C3EAB96E-2527-498C-9C2D-70F13F457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990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6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7C4F4213-CBB7-4C7D-94C5-37BF6D8FB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E6673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79376314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B55BDB25-88DA-49AA-BF4A-F49D9C58F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478F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478F6"/>
                </a:solidFill>
                <a:latin typeface="Arial"/>
                <a:ea typeface="Arial"/>
                <a:cs typeface="Arial"/>
              </a:rPr>
              <a:t>ANALYZE → DECIDE → RETEST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AB327F4-7EFD-46AB-8291-7EC4625B7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31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1318"/>
                </a:solidFill>
                <a:latin typeface="Arial"/>
                <a:ea typeface="Arial"/>
                <a:cs typeface="Arial"/>
              </a:rPr>
              <a:t>Use the data to make one final improvement</a:t>
            </a:r>
          </a:p>
        </p:txBody>
      </p:sp>
      <p:sp>
        <p:nvSpPr>
          <p:cNvPr id="3" name="source">
            <a:extLst xmlns:a="http://schemas.openxmlformats.org/drawingml/2006/main">
              <a:ext uri="{FF2B5EF4-FFF2-40B4-BE49-F238E27FC236}">
                <a16:creationId xmlns:a16="http://schemas.microsoft.com/office/drawing/2014/main" id="{1EFAF313-0C69-4768-A8BB-82BA8057B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990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F20B7FEF-3FB2-429E-A070-01C4A9E8C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E6673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5" name="box">
            <a:extLst xmlns:a="http://schemas.openxmlformats.org/drawingml/2006/main">
              <a:ext uri="{FF2B5EF4-FFF2-40B4-BE49-F238E27FC236}">
                <a16:creationId xmlns:a16="http://schemas.microsoft.com/office/drawing/2014/main" id="{58E4C57C-A958-4828-A94D-6BE46DEA8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54292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4F98B9EE-EAFA-401A-839E-CE0349831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523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E5484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E5484D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93D0BE0C-1E92-4891-AADB-170A1FCBD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207645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31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1318"/>
                </a:solidFill>
                <a:latin typeface="Arial"/>
                <a:ea typeface="Arial"/>
                <a:cs typeface="Arial"/>
              </a:rPr>
              <a:t>What improved most?</a:t>
            </a:r>
          </a:p>
        </p:txBody>
      </p:sp>
      <p:sp>
        <p:nvSpPr>
          <p:cNvPr id="8" name="box">
            <a:extLst xmlns:a="http://schemas.openxmlformats.org/drawingml/2006/main">
              <a:ext uri="{FF2B5EF4-FFF2-40B4-BE49-F238E27FC236}">
                <a16:creationId xmlns:a16="http://schemas.microsoft.com/office/drawing/2014/main" id="{805C64B5-E59D-479E-86ED-C47EA28DB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809750"/>
            <a:ext cx="54292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5DD11530-5114-4D65-B117-D2DAC57DE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57400"/>
            <a:ext cx="523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478F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3478F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6A603490-59A5-4FFB-BBED-F4616DF22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207645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31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1318"/>
                </a:solidFill>
                <a:latin typeface="Arial"/>
                <a:ea typeface="Arial"/>
                <a:cs typeface="Arial"/>
              </a:rPr>
              <a:t>Was the result consistent?</a:t>
            </a:r>
          </a:p>
        </p:txBody>
      </p:sp>
      <p:sp>
        <p:nvSpPr>
          <p:cNvPr id="11" name="box">
            <a:extLst xmlns:a="http://schemas.openxmlformats.org/drawingml/2006/main">
              <a:ext uri="{FF2B5EF4-FFF2-40B4-BE49-F238E27FC236}">
                <a16:creationId xmlns:a16="http://schemas.microsoft.com/office/drawing/2014/main" id="{86D1D404-951C-459D-914F-0C86A2A18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0"/>
            <a:ext cx="54292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98C5CED3-F8EA-4929-A80F-292B82835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67150"/>
            <a:ext cx="523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E5484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E5484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C67AC3F0-44B2-4D64-89D4-A764745B1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388620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31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1318"/>
                </a:solidFill>
                <a:latin typeface="Arial"/>
                <a:ea typeface="Arial"/>
                <a:cs typeface="Arial"/>
              </a:rPr>
              <a:t>Does the evidence support your hypothesis?</a:t>
            </a:r>
          </a:p>
        </p:txBody>
      </p:sp>
      <p:sp>
        <p:nvSpPr>
          <p:cNvPr id="14" name="box">
            <a:extLst xmlns:a="http://schemas.openxmlformats.org/drawingml/2006/main">
              <a:ext uri="{FF2B5EF4-FFF2-40B4-BE49-F238E27FC236}">
                <a16:creationId xmlns:a16="http://schemas.microsoft.com/office/drawing/2014/main" id="{70748472-A51A-462E-B076-8113DDE42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619500"/>
            <a:ext cx="54292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778F0D43-6707-47C9-8B08-DB758A1D6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867150"/>
            <a:ext cx="523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478F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3478F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3E353C09-E480-4EB5-912B-5E0BC529C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388620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31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1318"/>
                </a:solidFill>
                <a:latin typeface="Arial"/>
                <a:ea typeface="Arial"/>
                <a:cs typeface="Arial"/>
              </a:rPr>
              <a:t>What limitation still remains?</a:t>
            </a:r>
          </a:p>
        </p:txBody>
      </p:sp>
      <p:sp>
        <p:nvSpPr>
          <p:cNvPr id="17" name="box">
            <a:extLst xmlns:a="http://schemas.openxmlformats.org/drawingml/2006/main">
              <a:ext uri="{FF2B5EF4-FFF2-40B4-BE49-F238E27FC236}">
                <a16:creationId xmlns:a16="http://schemas.microsoft.com/office/drawing/2014/main" id="{AD280A3F-4E63-4F07-B8D1-D17F01C0B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67375"/>
            <a:ext cx="110490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115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BC954A7D-840C-4B4A-88F0-EAC913AE9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81675"/>
            <a:ext cx="10706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Change only what your evidence tells you to change.</a:t>
            </a:r>
          </a:p>
        </p:txBody>
      </p:sp>
      <p:sp>
        <p:nvSpPr>
          <p:cNvPr id="19" name="source">
            <a:extLst xmlns:a="http://schemas.openxmlformats.org/drawingml/2006/main">
              <a:ext uri="{FF2B5EF4-FFF2-40B4-BE49-F238E27FC236}">
                <a16:creationId xmlns:a16="http://schemas.microsoft.com/office/drawing/2014/main" id="{36F76524-55B6-49AF-8CFB-54FC3D24F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990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0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5AD84775-1A47-498E-8539-725682DC5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E6673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83378955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BDA301C2-F683-41FD-99CB-3915A9CA6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478F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478F6"/>
                </a:solidFill>
                <a:latin typeface="Arial"/>
                <a:ea typeface="Arial"/>
                <a:cs typeface="Arial"/>
              </a:rPr>
              <a:t>WHAT YOUR TEAM MUST PRODUCE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92210E7-294F-4DA4-905E-42F1D8119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31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1318"/>
                </a:solidFill>
                <a:latin typeface="Arial"/>
                <a:ea typeface="Arial"/>
                <a:cs typeface="Arial"/>
              </a:rPr>
              <a:t>Your final product is more than a working robot</a:t>
            </a:r>
          </a:p>
        </p:txBody>
      </p:sp>
      <p:sp>
        <p:nvSpPr>
          <p:cNvPr id="3" name="source">
            <a:extLst xmlns:a="http://schemas.openxmlformats.org/drawingml/2006/main">
              <a:ext uri="{FF2B5EF4-FFF2-40B4-BE49-F238E27FC236}">
                <a16:creationId xmlns:a16="http://schemas.microsoft.com/office/drawing/2014/main" id="{4601CBCD-6C04-44D9-AA5D-A318FF97E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990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2B7D7851-B677-42FD-90D8-955506217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E6673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5" name="box">
            <a:extLst xmlns:a="http://schemas.openxmlformats.org/drawingml/2006/main">
              <a:ext uri="{FF2B5EF4-FFF2-40B4-BE49-F238E27FC236}">
                <a16:creationId xmlns:a16="http://schemas.microsoft.com/office/drawing/2014/main" id="{46DC1FD6-ADF1-4DDD-AA5E-53AF5D248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35242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82FDE1BC-2425-4FB5-A0D2-12399643C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28825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5484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E5484D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DE73CAB7-37C2-45D9-966C-B9847EA5D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66925"/>
            <a:ext cx="2333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31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1318"/>
                </a:solidFill>
                <a:latin typeface="Arial"/>
                <a:ea typeface="Arial"/>
                <a:cs typeface="Arial"/>
              </a:rPr>
              <a:t>Adapted Clawbot</a:t>
            </a:r>
          </a:p>
        </p:txBody>
      </p:sp>
      <p:sp>
        <p:nvSpPr>
          <p:cNvPr id="8" name="box">
            <a:extLst xmlns:a="http://schemas.openxmlformats.org/drawingml/2006/main">
              <a:ext uri="{FF2B5EF4-FFF2-40B4-BE49-F238E27FC236}">
                <a16:creationId xmlns:a16="http://schemas.microsoft.com/office/drawing/2014/main" id="{8EBF0B88-8395-4715-876C-509C82861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1809750"/>
            <a:ext cx="35242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058BAFD9-0AD2-4DE6-8D3B-FD930BB21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2028825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5484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E5484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488AEB7C-C761-4806-83B6-A3D2EE784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066925"/>
            <a:ext cx="2333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31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1318"/>
                </a:solidFill>
                <a:latin typeface="Arial"/>
                <a:ea typeface="Arial"/>
                <a:cs typeface="Arial"/>
              </a:rPr>
              <a:t>Annotated sketch</a:t>
            </a:r>
          </a:p>
        </p:txBody>
      </p:sp>
      <p:sp>
        <p:nvSpPr>
          <p:cNvPr id="11" name="box">
            <a:extLst xmlns:a="http://schemas.openxmlformats.org/drawingml/2006/main">
              <a:ext uri="{FF2B5EF4-FFF2-40B4-BE49-F238E27FC236}">
                <a16:creationId xmlns:a16="http://schemas.microsoft.com/office/drawing/2014/main" id="{C6A5C946-6043-4600-8B7A-BD12F8087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809750"/>
            <a:ext cx="35242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604BD4C3-FFC5-4BEE-AA3E-6C1842ADC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028825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5484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E5484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66B9ECF6-AA4F-488E-803F-4F652AE61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066925"/>
            <a:ext cx="2333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31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1318"/>
                </a:solidFill>
                <a:latin typeface="Arial"/>
                <a:ea typeface="Arial"/>
                <a:cs typeface="Arial"/>
              </a:rPr>
              <a:t>Question + hypothesis</a:t>
            </a:r>
          </a:p>
        </p:txBody>
      </p:sp>
      <p:sp>
        <p:nvSpPr>
          <p:cNvPr id="14" name="box">
            <a:extLst xmlns:a="http://schemas.openxmlformats.org/drawingml/2006/main">
              <a:ext uri="{FF2B5EF4-FFF2-40B4-BE49-F238E27FC236}">
                <a16:creationId xmlns:a16="http://schemas.microsoft.com/office/drawing/2014/main" id="{F2F68FA2-9C39-41EB-98CA-9CB6C3463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71875"/>
            <a:ext cx="35242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0461CF30-FAF7-406B-A8B4-8277EF6A8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9095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5484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E5484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A75BD753-397F-46B3-8CB7-0D490FDAE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829050"/>
            <a:ext cx="2333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31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1318"/>
                </a:solidFill>
                <a:latin typeface="Arial"/>
                <a:ea typeface="Arial"/>
                <a:cs typeface="Arial"/>
              </a:rPr>
              <a:t>Baseline + 3 trials</a:t>
            </a:r>
          </a:p>
        </p:txBody>
      </p:sp>
      <p:sp>
        <p:nvSpPr>
          <p:cNvPr id="17" name="box">
            <a:extLst xmlns:a="http://schemas.openxmlformats.org/drawingml/2006/main">
              <a:ext uri="{FF2B5EF4-FFF2-40B4-BE49-F238E27FC236}">
                <a16:creationId xmlns:a16="http://schemas.microsoft.com/office/drawing/2014/main" id="{E033DD2D-3C72-487B-BD95-674A3292B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571875"/>
            <a:ext cx="35242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311F18B7-5DC8-4B94-AC28-72D5D0BD6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379095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5484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E5484D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5A07906A-00B8-408B-B122-608B6C161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829050"/>
            <a:ext cx="2333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31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1318"/>
                </a:solidFill>
                <a:latin typeface="Arial"/>
                <a:ea typeface="Arial"/>
                <a:cs typeface="Arial"/>
              </a:rPr>
              <a:t>Mini poster / 1 slide</a:t>
            </a:r>
          </a:p>
        </p:txBody>
      </p:sp>
      <p:sp>
        <p:nvSpPr>
          <p:cNvPr id="20" name="box">
            <a:extLst xmlns:a="http://schemas.openxmlformats.org/drawingml/2006/main">
              <a:ext uri="{FF2B5EF4-FFF2-40B4-BE49-F238E27FC236}">
                <a16:creationId xmlns:a16="http://schemas.microsoft.com/office/drawing/2014/main" id="{4EC82A4C-5947-4A9D-B2B7-6484877C5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571875"/>
            <a:ext cx="35242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C1488A15-9AC0-4708-90D9-07FD6DAA9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79095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478F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3478F6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817988C7-23EF-490F-8C33-7A795EF2B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829050"/>
            <a:ext cx="2333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31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1318"/>
                </a:solidFill>
                <a:latin typeface="Arial"/>
                <a:ea typeface="Arial"/>
                <a:cs typeface="Arial"/>
              </a:rPr>
              <a:t>Live demo + evidence pitch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F6652BB0-F3C7-4D23-B056-C9FA7162F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19750"/>
            <a:ext cx="1095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31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318"/>
                </a:solidFill>
                <a:latin typeface="Arial"/>
                <a:ea typeface="Arial"/>
                <a:cs typeface="Arial"/>
              </a:rPr>
              <a:t>Original solution + visible process + credible evidence</a:t>
            </a:r>
          </a:p>
        </p:txBody>
      </p:sp>
      <p:sp>
        <p:nvSpPr>
          <p:cNvPr id="24" name="source">
            <a:extLst xmlns:a="http://schemas.openxmlformats.org/drawingml/2006/main">
              <a:ext uri="{FF2B5EF4-FFF2-40B4-BE49-F238E27FC236}">
                <a16:creationId xmlns:a16="http://schemas.microsoft.com/office/drawing/2014/main" id="{CCD67B0F-6180-41D5-98D6-3456DE60D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990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5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EDE1FCEA-8F45-4D82-B401-7F4D4012F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E6673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7577093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D950C045-5ED5-4D45-8E8A-6AFE9D6C7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478F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478F6"/>
                </a:solidFill>
                <a:latin typeface="Arial"/>
                <a:ea typeface="Arial"/>
                <a:cs typeface="Arial"/>
              </a:rPr>
              <a:t>FINAL PRESENTATION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E8B861F-2A7B-43EF-B1DF-170A02C27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31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1318"/>
                </a:solidFill>
                <a:latin typeface="Arial"/>
                <a:ea typeface="Arial"/>
                <a:cs typeface="Arial"/>
              </a:rPr>
              <a:t>Tell the story of your design in three minutes</a:t>
            </a:r>
          </a:p>
        </p:txBody>
      </p:sp>
      <p:sp>
        <p:nvSpPr>
          <p:cNvPr id="3" name="source">
            <a:extLst xmlns:a="http://schemas.openxmlformats.org/drawingml/2006/main">
              <a:ext uri="{FF2B5EF4-FFF2-40B4-BE49-F238E27FC236}">
                <a16:creationId xmlns:a16="http://schemas.microsoft.com/office/drawing/2014/main" id="{B4D1ACFF-8554-45C1-A6B9-EF1627BB5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990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01D6756E-161F-4AEC-874A-11A009651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E6673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2ECC024B-EE88-4B66-96E6-B14F41D11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66875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5484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5484D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BB20C2B8-6004-4904-8A42-791C74860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666875"/>
            <a:ext cx="476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131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318"/>
                </a:solidFill>
                <a:latin typeface="Arial"/>
                <a:ea typeface="Arial"/>
                <a:cs typeface="Arial"/>
              </a:rPr>
              <a:t>Challenge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E80F8EAC-DF54-4ADC-916F-C78E07D3C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305050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478F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478F6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75DABA0D-EB00-47E1-8802-27EA57610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305050"/>
            <a:ext cx="476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131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318"/>
                </a:solidFill>
                <a:latin typeface="Arial"/>
                <a:ea typeface="Arial"/>
                <a:cs typeface="Arial"/>
              </a:rPr>
              <a:t>Observation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66A6A5E8-F37A-4AB2-B12C-367EF9B8E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943225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5484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5484D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331D6A48-D633-44FF-B32D-6323F3760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943225"/>
            <a:ext cx="476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131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318"/>
                </a:solidFill>
                <a:latin typeface="Arial"/>
                <a:ea typeface="Arial"/>
                <a:cs typeface="Arial"/>
              </a:rPr>
              <a:t>Hypothesis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1C8E3D2D-EFB3-4ADB-8E02-900A009F9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581400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478F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478F6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7653631D-F602-4899-8F0D-3BD63D492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581400"/>
            <a:ext cx="476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131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318"/>
                </a:solidFill>
                <a:latin typeface="Arial"/>
                <a:ea typeface="Arial"/>
                <a:cs typeface="Arial"/>
              </a:rPr>
              <a:t>Solution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B6B0EE1D-FB8E-437B-8E0D-3666D72F1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219575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5484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5484D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4A76AFEF-491D-4578-8142-0DCCCD572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219575"/>
            <a:ext cx="476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31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1318"/>
                </a:solidFill>
                <a:latin typeface="Arial"/>
                <a:ea typeface="Arial"/>
                <a:cs typeface="Arial"/>
              </a:rPr>
              <a:t>Evidence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EC8C7440-2F35-4638-AED8-87BF81A04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857750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478F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478F6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DA26EDF6-B52B-4480-83C8-9A2394175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857750"/>
            <a:ext cx="476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131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318"/>
                </a:solidFill>
                <a:latin typeface="Arial"/>
                <a:ea typeface="Arial"/>
                <a:cs typeface="Arial"/>
              </a:rPr>
              <a:t>Limitation + next step</a:t>
            </a:r>
          </a:p>
        </p:txBody>
      </p:sp>
      <p:sp>
        <p:nvSpPr>
          <p:cNvPr id="17" name="box">
            <a:extLst xmlns:a="http://schemas.openxmlformats.org/drawingml/2006/main">
              <a:ext uri="{FF2B5EF4-FFF2-40B4-BE49-F238E27FC236}">
                <a16:creationId xmlns:a16="http://schemas.microsoft.com/office/drawing/2014/main" id="{015E381C-FEA6-43F8-837C-F30981497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66875"/>
            <a:ext cx="4953000" cy="3762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5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3C1A0C56-A415-4D99-A6E6-791EC5ACB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047875"/>
            <a:ext cx="4191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6C344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6C344"/>
                </a:solidFill>
                <a:latin typeface="Arial"/>
                <a:ea typeface="Arial"/>
                <a:cs typeface="Arial"/>
              </a:rPr>
              <a:t>DEFEND WITH EVIDENCE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958BF444-B1F3-42FE-BBE6-224E1B6D7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619375"/>
            <a:ext cx="4095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What evidence shows improvement?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What trade-off did you make?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How reliable was your solution?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What would you change with one more hour?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4CC63B47-2817-4199-BDF8-6B2EEB680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478F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478F6"/>
                </a:solidFill>
                <a:latin typeface="Arial"/>
                <a:ea typeface="Arial"/>
                <a:cs typeface="Arial"/>
              </a:rPr>
              <a:t>3 min pitch + 1 min questions</a:t>
            </a:r>
          </a:p>
        </p:txBody>
      </p:sp>
      <p:sp>
        <p:nvSpPr>
          <p:cNvPr id="21" name="source">
            <a:extLst xmlns:a="http://schemas.openxmlformats.org/drawingml/2006/main">
              <a:ext uri="{FF2B5EF4-FFF2-40B4-BE49-F238E27FC236}">
                <a16:creationId xmlns:a16="http://schemas.microsoft.com/office/drawing/2014/main" id="{A7802FE0-5241-43C6-9D46-57E5A3932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990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D6A09CA3-3D24-4A4E-90C6-44F234E21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E6673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200111931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56F1729A-8060-4BB3-9945-2C7B5E5D7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478F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478F6"/>
                </a:solidFill>
                <a:latin typeface="Arial"/>
                <a:ea typeface="Arial"/>
                <a:cs typeface="Arial"/>
              </a:rPr>
              <a:t>ASSESSMENT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9B96A89-F30D-435A-AC77-4DF45F77E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31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1318"/>
                </a:solidFill>
                <a:latin typeface="Arial"/>
                <a:ea typeface="Arial"/>
                <a:cs typeface="Arial"/>
              </a:rPr>
              <a:t>Success combines innovation, evidence and teamwork</a:t>
            </a:r>
          </a:p>
        </p:txBody>
      </p:sp>
      <p:sp>
        <p:nvSpPr>
          <p:cNvPr id="3" name="source">
            <a:extLst xmlns:a="http://schemas.openxmlformats.org/drawingml/2006/main">
              <a:ext uri="{FF2B5EF4-FFF2-40B4-BE49-F238E27FC236}">
                <a16:creationId xmlns:a16="http://schemas.microsoft.com/office/drawing/2014/main" id="{335468EC-7148-49C8-92E5-BAFCDCC26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990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2A6BCA4D-5B1F-46BD-81FF-221F26CD6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E6673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5" name="box">
            <a:extLst xmlns:a="http://schemas.openxmlformats.org/drawingml/2006/main">
              <a:ext uri="{FF2B5EF4-FFF2-40B4-BE49-F238E27FC236}">
                <a16:creationId xmlns:a16="http://schemas.microsoft.com/office/drawing/2014/main" id="{E65E36A7-0562-407C-B1C9-E3BE7E6D0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0"/>
            <a:ext cx="3524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8E6BB79E-E954-4E42-A104-6E733F9A7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05000"/>
            <a:ext cx="714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E5484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E5484D"/>
                </a:solidFill>
                <a:latin typeface="Arial"/>
                <a:ea typeface="Arial"/>
                <a:cs typeface="Arial"/>
              </a:rPr>
              <a:t>20%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DC72B6DC-3DE8-41FB-9983-235C534FD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924050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31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318"/>
                </a:solidFill>
                <a:latin typeface="Arial"/>
                <a:ea typeface="Arial"/>
                <a:cs typeface="Arial"/>
              </a:rPr>
              <a:t>CREATIVITY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7C53BACA-5B42-4DBF-B407-0148EBFAB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95550"/>
            <a:ext cx="3000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E6673"/>
                </a:solidFill>
                <a:latin typeface="Arial"/>
                <a:ea typeface="Arial"/>
                <a:cs typeface="Arial"/>
              </a:rPr>
              <a:t>Distinct solution</a:t>
            </a:r>
          </a:p>
        </p:txBody>
      </p:sp>
      <p:sp>
        <p:nvSpPr>
          <p:cNvPr id="9" name="box">
            <a:extLst xmlns:a="http://schemas.openxmlformats.org/drawingml/2006/main">
              <a:ext uri="{FF2B5EF4-FFF2-40B4-BE49-F238E27FC236}">
                <a16:creationId xmlns:a16="http://schemas.microsoft.com/office/drawing/2014/main" id="{2C2B2510-AC25-4685-A480-0DCF041B5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1714500"/>
            <a:ext cx="3524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E2F548AB-F285-45D1-A4EA-88D09EE65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1905000"/>
            <a:ext cx="714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478F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3478F6"/>
                </a:solidFill>
                <a:latin typeface="Arial"/>
                <a:ea typeface="Arial"/>
                <a:cs typeface="Arial"/>
              </a:rPr>
              <a:t>20%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6AA0FD7F-7025-48F6-B757-9DB46C9EA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1924050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31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318"/>
                </a:solidFill>
                <a:latin typeface="Arial"/>
                <a:ea typeface="Arial"/>
                <a:cs typeface="Arial"/>
              </a:rPr>
              <a:t>TESTING + DATA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E7AF8900-BA3F-4479-A048-6C24C23DB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495550"/>
            <a:ext cx="3000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E6673"/>
                </a:solidFill>
                <a:latin typeface="Arial"/>
                <a:ea typeface="Arial"/>
                <a:cs typeface="Arial"/>
              </a:rPr>
              <a:t>Fair trials and evidence</a:t>
            </a:r>
          </a:p>
        </p:txBody>
      </p:sp>
      <p:sp>
        <p:nvSpPr>
          <p:cNvPr id="13" name="box">
            <a:extLst xmlns:a="http://schemas.openxmlformats.org/drawingml/2006/main">
              <a:ext uri="{FF2B5EF4-FFF2-40B4-BE49-F238E27FC236}">
                <a16:creationId xmlns:a16="http://schemas.microsoft.com/office/drawing/2014/main" id="{BDEEB678-040D-4C6D-8405-6CAAC7289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714500"/>
            <a:ext cx="3524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A6D38DEE-6BEA-441B-9C8B-FC310BE2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905000"/>
            <a:ext cx="714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E5484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E5484D"/>
                </a:solidFill>
                <a:latin typeface="Arial"/>
                <a:ea typeface="Arial"/>
                <a:cs typeface="Arial"/>
              </a:rPr>
              <a:t>15%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DE587D54-31B4-4D59-8DFA-AA44C7BBA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924050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392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31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318"/>
                </a:solidFill>
                <a:latin typeface="Arial"/>
                <a:ea typeface="Arial"/>
                <a:cs typeface="Arial"/>
              </a:rPr>
              <a:t>PROBLEM + HYPOTHESIS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3FD177D1-9B7F-459B-AED1-056685CCE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495550"/>
            <a:ext cx="3000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E6673"/>
                </a:solidFill>
                <a:latin typeface="Arial"/>
                <a:ea typeface="Arial"/>
                <a:cs typeface="Arial"/>
              </a:rPr>
              <a:t>Clear and testable</a:t>
            </a:r>
          </a:p>
        </p:txBody>
      </p:sp>
      <p:sp>
        <p:nvSpPr>
          <p:cNvPr id="17" name="box">
            <a:extLst xmlns:a="http://schemas.openxmlformats.org/drawingml/2006/main">
              <a:ext uri="{FF2B5EF4-FFF2-40B4-BE49-F238E27FC236}">
                <a16:creationId xmlns:a16="http://schemas.microsoft.com/office/drawing/2014/main" id="{C28E430F-F8E8-46F0-B27C-8D0F54E38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24250"/>
            <a:ext cx="3524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0BAC2CF5-DC1A-4722-98A0-0A794C547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14750"/>
            <a:ext cx="714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478F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3478F6"/>
                </a:solidFill>
                <a:latin typeface="Arial"/>
                <a:ea typeface="Arial"/>
                <a:cs typeface="Arial"/>
              </a:rPr>
              <a:t>15%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30659C8D-22B0-4189-B93C-8978F3D3C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733800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747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31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318"/>
                </a:solidFill>
                <a:latin typeface="Arial"/>
                <a:ea typeface="Arial"/>
                <a:cs typeface="Arial"/>
              </a:rPr>
              <a:t>PRODUCT PERFORMANCE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59FE4EF4-8E93-4C64-9E37-889FDDC1D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05300"/>
            <a:ext cx="3000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E6673"/>
                </a:solidFill>
                <a:latin typeface="Arial"/>
                <a:ea typeface="Arial"/>
                <a:cs typeface="Arial"/>
              </a:rPr>
              <a:t>Works for the assigned priority</a:t>
            </a:r>
          </a:p>
        </p:txBody>
      </p:sp>
      <p:sp>
        <p:nvSpPr>
          <p:cNvPr id="21" name="box">
            <a:extLst xmlns:a="http://schemas.openxmlformats.org/drawingml/2006/main">
              <a:ext uri="{FF2B5EF4-FFF2-40B4-BE49-F238E27FC236}">
                <a16:creationId xmlns:a16="http://schemas.microsoft.com/office/drawing/2014/main" id="{CC2B5036-C60B-41E3-8767-0788CF1FB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524250"/>
            <a:ext cx="3524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0BB8DE0A-19CD-4BE9-B86D-6023B247E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714750"/>
            <a:ext cx="714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E5484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E5484D"/>
                </a:solidFill>
                <a:latin typeface="Arial"/>
                <a:ea typeface="Arial"/>
                <a:cs typeface="Arial"/>
              </a:rPr>
              <a:t>15%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BF0E58BB-BE87-4970-A9F7-D3F631C33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3733800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31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318"/>
                </a:solidFill>
                <a:latin typeface="Arial"/>
                <a:ea typeface="Arial"/>
                <a:cs typeface="Arial"/>
              </a:rPr>
              <a:t>COLLABORATION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49679D80-99CB-404E-993A-D22E5442F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4305300"/>
            <a:ext cx="3000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E6673"/>
                </a:solidFill>
                <a:latin typeface="Arial"/>
                <a:ea typeface="Arial"/>
                <a:cs typeface="Arial"/>
              </a:rPr>
              <a:t>Shared contribution</a:t>
            </a:r>
          </a:p>
        </p:txBody>
      </p:sp>
      <p:sp>
        <p:nvSpPr>
          <p:cNvPr id="25" name="box">
            <a:extLst xmlns:a="http://schemas.openxmlformats.org/drawingml/2006/main">
              <a:ext uri="{FF2B5EF4-FFF2-40B4-BE49-F238E27FC236}">
                <a16:creationId xmlns:a16="http://schemas.microsoft.com/office/drawing/2014/main" id="{0D931B21-340B-4006-9602-BC37DE346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524250"/>
            <a:ext cx="3524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DB67C449-8774-4B5C-B933-F707B93B8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714750"/>
            <a:ext cx="714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478F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3478F6"/>
                </a:solidFill>
                <a:latin typeface="Arial"/>
                <a:ea typeface="Arial"/>
                <a:cs typeface="Arial"/>
              </a:rPr>
              <a:t>15%</a:t>
            </a:r>
          </a:p>
        </p:txBody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8D5AF064-9A2F-4D17-9C83-04EDE5F30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733800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31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318"/>
                </a:solidFill>
                <a:latin typeface="Arial"/>
                <a:ea typeface="Arial"/>
                <a:cs typeface="Arial"/>
              </a:rPr>
              <a:t>PRESENTATION</a:t>
            </a:r>
          </a:p>
        </p:txBody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C3AFC9B9-B7CA-4EAF-98C8-3638BD206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305300"/>
            <a:ext cx="3000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E6673"/>
                </a:solidFill>
                <a:latin typeface="Arial"/>
                <a:ea typeface="Arial"/>
                <a:cs typeface="Arial"/>
              </a:rPr>
              <a:t>Clear demo and defense</a:t>
            </a:r>
          </a:p>
        </p:txBody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1F0D5848-0E48-4C3D-A79B-F5F7EEDDE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72125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31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1318"/>
                </a:solidFill>
                <a:latin typeface="Arial"/>
                <a:ea typeface="Arial"/>
                <a:cs typeface="Arial"/>
              </a:rPr>
              <a:t>Robot score is only one part of the story.</a:t>
            </a:r>
          </a:p>
        </p:txBody>
      </p:sp>
      <p:sp>
        <p:nvSpPr>
          <p:cNvPr id="30" name="source">
            <a:extLst xmlns:a="http://schemas.openxmlformats.org/drawingml/2006/main">
              <a:ext uri="{FF2B5EF4-FFF2-40B4-BE49-F238E27FC236}">
                <a16:creationId xmlns:a16="http://schemas.microsoft.com/office/drawing/2014/main" id="{19584DBF-0663-4882-8D3A-419B09941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990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1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4A270F4A-0EDE-4298-8954-4D39CECF6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E6673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48382804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">
            <a:extLst xmlns:a="http://schemas.openxmlformats.org/drawingml/2006/main">
              <a:ext uri="{FF2B5EF4-FFF2-40B4-BE49-F238E27FC236}">
                <a16:creationId xmlns:a16="http://schemas.microsoft.com/office/drawing/2014/main" id="{DFA93DFF-32D1-4E71-A839-D8A246C9E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478F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478F6"/>
                </a:solidFill>
                <a:latin typeface="Arial"/>
                <a:ea typeface="Arial"/>
                <a:cs typeface="Arial"/>
              </a:rPr>
              <a:t>FINAL REFLECTION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E6F911E8-13FF-4E40-BA71-42494D92B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0"/>
            <a:ext cx="1057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01318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01318"/>
                </a:solidFill>
                <a:latin typeface="Arial"/>
                <a:ea typeface="Arial"/>
                <a:cs typeface="Arial"/>
              </a:rPr>
              <a:t>Good engineering is not just making a robot work.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3FC80349-7635-4F41-AAF3-31456CE4C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43125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E5484D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E5484D"/>
                </a:solidFill>
                <a:latin typeface="Arial"/>
                <a:ea typeface="Arial"/>
                <a:cs typeface="Arial"/>
              </a:rPr>
              <a:t>It is using evidence to make the next version better.</a:t>
            </a:r>
          </a:p>
        </p:txBody>
      </p:sp>
      <p:sp>
        <p:nvSpPr>
          <p:cNvPr id="4" name="box">
            <a:extLst xmlns:a="http://schemas.openxmlformats.org/drawingml/2006/main">
              <a:ext uri="{FF2B5EF4-FFF2-40B4-BE49-F238E27FC236}">
                <a16:creationId xmlns:a16="http://schemas.microsoft.com/office/drawing/2014/main" id="{9134C95B-1C84-47D7-A749-5B527C978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0"/>
            <a:ext cx="35242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00AFF0A2-5950-4B3A-A0F2-3F8FC5BB1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3095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31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318"/>
                </a:solidFill>
                <a:latin typeface="Arial"/>
                <a:ea typeface="Arial"/>
                <a:cs typeface="Arial"/>
              </a:rPr>
              <a:t>One thing I learned…</a:t>
            </a:r>
          </a:p>
        </p:txBody>
      </p:sp>
      <p:sp>
        <p:nvSpPr>
          <p:cNvPr id="6" name="box">
            <a:extLst xmlns:a="http://schemas.openxmlformats.org/drawingml/2006/main">
              <a:ext uri="{FF2B5EF4-FFF2-40B4-BE49-F238E27FC236}">
                <a16:creationId xmlns:a16="http://schemas.microsoft.com/office/drawing/2014/main" id="{5D046189-867C-49EB-9247-173321993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714750"/>
            <a:ext cx="35242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872B6DB3-87BF-4A86-9B2B-715264977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4095750"/>
            <a:ext cx="3095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31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318"/>
                </a:solidFill>
                <a:latin typeface="Arial"/>
                <a:ea typeface="Arial"/>
                <a:cs typeface="Arial"/>
              </a:rPr>
              <a:t>One contribution I made…</a:t>
            </a:r>
          </a:p>
        </p:txBody>
      </p:sp>
      <p:sp>
        <p:nvSpPr>
          <p:cNvPr id="8" name="box">
            <a:extLst xmlns:a="http://schemas.openxmlformats.org/drawingml/2006/main">
              <a:ext uri="{FF2B5EF4-FFF2-40B4-BE49-F238E27FC236}">
                <a16:creationId xmlns:a16="http://schemas.microsoft.com/office/drawing/2014/main" id="{140A77DA-3D05-42D7-9C30-3C3655E8B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714750"/>
            <a:ext cx="35242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577B7323-44F7-40DF-B7C5-61407ABCE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095750"/>
            <a:ext cx="3095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31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318"/>
                </a:solidFill>
                <a:latin typeface="Arial"/>
                <a:ea typeface="Arial"/>
                <a:cs typeface="Arial"/>
              </a:rPr>
              <a:t>One improvement I would make…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E33D6F65-D086-4850-940B-20AA06548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0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478F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478F6"/>
                </a:solidFill>
                <a:latin typeface="Arial"/>
                <a:ea typeface="Arial"/>
                <a:cs typeface="Arial"/>
              </a:rPr>
              <a:t>Design · Test · Improve · Explain</a:t>
            </a:r>
          </a:p>
        </p:txBody>
      </p:sp>
      <p:sp>
        <p:nvSpPr>
          <p:cNvPr id="11" name="source">
            <a:extLst xmlns:a="http://schemas.openxmlformats.org/drawingml/2006/main">
              <a:ext uri="{FF2B5EF4-FFF2-40B4-BE49-F238E27FC236}">
                <a16:creationId xmlns:a16="http://schemas.microsoft.com/office/drawing/2014/main" id="{BD26696F-D380-47D4-82BA-60B60BE15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990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E6673"/>
                </a:solidFill>
                <a:latin typeface="Arial"/>
                <a:ea typeface="Arial"/>
                <a:cs typeface="Arial"/>
              </a:rPr>
              <a:t>Reference: VEX Robotics V5RC Override 2026–2027 official resources</a:t>
            </a:r>
          </a:p>
        </p:txBody>
      </p:sp>
      <p:sp>
        <p:nvSpPr>
          <p:cNvPr id="1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30016F01-8043-472B-B5E1-4EBFA1CA1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E667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E6673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55145662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6AF831D7C2E2E418D0110769DF2A3DB" ma:contentTypeVersion="19" ma:contentTypeDescription="Create a new document." ma:contentTypeScope="" ma:versionID="f29d3cd94e24a1fb1600f903cb264dba">
  <xsd:schema xmlns:xsd="http://www.w3.org/2001/XMLSchema" xmlns:xs="http://www.w3.org/2001/XMLSchema" xmlns:p="http://schemas.microsoft.com/office/2006/metadata/properties" xmlns:ns2="d25b268d-9f4b-45c1-9102-2acd60193a98" xmlns:ns3="bdfb7d68-29b1-4e96-ad48-6f9c8a7c97f0" targetNamespace="http://schemas.microsoft.com/office/2006/metadata/properties" ma:root="true" ma:fieldsID="91d7ec0da531f2eb693ff8cd88ae15ae" ns2:_="" ns3:_="">
    <xsd:import namespace="d25b268d-9f4b-45c1-9102-2acd60193a98"/>
    <xsd:import namespace="bdfb7d68-29b1-4e96-ad48-6f9c8a7c97f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EventHashCode" minOccurs="0"/>
                <xsd:element ref="ns2:MediaServiceGenerationTime" minOccurs="0"/>
                <xsd:element ref="ns2:MediaServiceDateTaken" minOccurs="0"/>
                <xsd:element ref="ns2:MediaServiceAutoTags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25b268d-9f4b-45c1-9102-2acd60193a9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EventHashCode" ma:index="1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2134b42d-658f-4340-bb38-732894869a5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3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dfb7d68-29b1-4e96-ad48-6f9c8a7c97f0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dd197b17-8fcf-4774-ba66-64c6e5e86efd}" ma:internalName="TaxCatchAll" ma:showField="CatchAllData" ma:web="bdfb7d68-29b1-4e96-ad48-6f9c8a7c97f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dfb7d68-29b1-4e96-ad48-6f9c8a7c97f0" xsi:nil="true"/>
    <lcf76f155ced4ddcb4097134ff3c332f xmlns="d25b268d-9f4b-45c1-9102-2acd60193a98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6541F08D-279B-4780-9CD0-A6DAD43BA73E}"/>
</file>

<file path=customXml/itemProps2.xml><?xml version="1.0" encoding="utf-8"?>
<ds:datastoreItem xmlns:ds="http://schemas.openxmlformats.org/officeDocument/2006/customXml" ds:itemID="{BDBED2BB-A5C8-4BAE-9BFD-FA0BD1303627}"/>
</file>

<file path=customXml/itemProps3.xml><?xml version="1.0" encoding="utf-8"?>
<ds:datastoreItem xmlns:ds="http://schemas.openxmlformats.org/officeDocument/2006/customXml" ds:itemID="{41C1D779-F018-487D-A83D-66CF1F2ACABE}"/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Walnut Exporter</cp:lastModifiedBy>
  <dcterms:created xsi:type="dcterms:W3CDTF">2026-07-21T08:03:25Z</dcterms:created>
  <dcterms:modified xsi:type="dcterms:W3CDTF">2026-07-21T08:03:25Z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0x01010036AF831D7C2E2E418D0110769DF2A3DB</vt:lpwstr>
  </property>
</Properties>
</file>